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0"/>
  </p:notesMasterIdLst>
  <p:sldIdLst>
    <p:sldId id="256" r:id="rId2"/>
    <p:sldId id="257" r:id="rId3"/>
    <p:sldId id="258" r:id="rId4"/>
    <p:sldId id="259"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Lst>
  <p:sldSz cx="9144000" cy="5143500" type="screen16x9"/>
  <p:notesSz cx="6858000" cy="9144000"/>
  <p:embeddedFontLst>
    <p:embeddedFont>
      <p:font typeface="Nunito" pitchFamily="2" charset="0"/>
      <p:regular r:id="rId21"/>
      <p:bold r:id="rId22"/>
      <p:italic r:id="rId23"/>
      <p:bold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3" d="100"/>
          <a:sy n="63" d="100"/>
        </p:scale>
        <p:origin x="77" y="85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3a5d8bcc884_0_1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3a5d8bcc884_0_1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a5d8bcc884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a5d8bcc884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a5d8bcc884_0_1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3a5d8bcc884_0_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a:extLst>
            <a:ext uri="{FF2B5EF4-FFF2-40B4-BE49-F238E27FC236}">
              <a16:creationId xmlns:a16="http://schemas.microsoft.com/office/drawing/2014/main" id="{6A0DF65C-51D1-DBCF-E7B7-060E5B1B61F5}"/>
            </a:ext>
          </a:extLst>
        </p:cNvPr>
        <p:cNvGrpSpPr/>
        <p:nvPr/>
      </p:nvGrpSpPr>
      <p:grpSpPr>
        <a:xfrm>
          <a:off x="0" y="0"/>
          <a:ext cx="0" cy="0"/>
          <a:chOff x="0" y="0"/>
          <a:chExt cx="0" cy="0"/>
        </a:xfrm>
      </p:grpSpPr>
      <p:sp>
        <p:nvSpPr>
          <p:cNvPr id="137" name="Google Shape;137;g3a5d8bcc884_0_129:notes">
            <a:extLst>
              <a:ext uri="{FF2B5EF4-FFF2-40B4-BE49-F238E27FC236}">
                <a16:creationId xmlns:a16="http://schemas.microsoft.com/office/drawing/2014/main" id="{61429E00-2EC7-A035-941C-BE7884A9184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a5d8bcc884_0_129:notes">
            <a:extLst>
              <a:ext uri="{FF2B5EF4-FFF2-40B4-BE49-F238E27FC236}">
                <a16:creationId xmlns:a16="http://schemas.microsoft.com/office/drawing/2014/main" id="{2B66A425-B5ED-8054-B132-C7E900D94C0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836134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a:extLst>
            <a:ext uri="{FF2B5EF4-FFF2-40B4-BE49-F238E27FC236}">
              <a16:creationId xmlns:a16="http://schemas.microsoft.com/office/drawing/2014/main" id="{8689B8F1-6087-EAD2-943F-D417BBEEAD83}"/>
            </a:ext>
          </a:extLst>
        </p:cNvPr>
        <p:cNvGrpSpPr/>
        <p:nvPr/>
      </p:nvGrpSpPr>
      <p:grpSpPr>
        <a:xfrm>
          <a:off x="0" y="0"/>
          <a:ext cx="0" cy="0"/>
          <a:chOff x="0" y="0"/>
          <a:chExt cx="0" cy="0"/>
        </a:xfrm>
      </p:grpSpPr>
      <p:sp>
        <p:nvSpPr>
          <p:cNvPr id="137" name="Google Shape;137;g3a5d8bcc884_0_129:notes">
            <a:extLst>
              <a:ext uri="{FF2B5EF4-FFF2-40B4-BE49-F238E27FC236}">
                <a16:creationId xmlns:a16="http://schemas.microsoft.com/office/drawing/2014/main" id="{C8A63628-2A05-40AB-53F1-62A5D7EFD85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a5d8bcc884_0_129:notes">
            <a:extLst>
              <a:ext uri="{FF2B5EF4-FFF2-40B4-BE49-F238E27FC236}">
                <a16:creationId xmlns:a16="http://schemas.microsoft.com/office/drawing/2014/main" id="{FC7B0057-098C-4FF1-1F0B-BEE0D1B8B7E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384682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a:extLst>
            <a:ext uri="{FF2B5EF4-FFF2-40B4-BE49-F238E27FC236}">
              <a16:creationId xmlns:a16="http://schemas.microsoft.com/office/drawing/2014/main" id="{5A4C4899-889D-149D-CCC9-06090D257DAA}"/>
            </a:ext>
          </a:extLst>
        </p:cNvPr>
        <p:cNvGrpSpPr/>
        <p:nvPr/>
      </p:nvGrpSpPr>
      <p:grpSpPr>
        <a:xfrm>
          <a:off x="0" y="0"/>
          <a:ext cx="0" cy="0"/>
          <a:chOff x="0" y="0"/>
          <a:chExt cx="0" cy="0"/>
        </a:xfrm>
      </p:grpSpPr>
      <p:sp>
        <p:nvSpPr>
          <p:cNvPr id="137" name="Google Shape;137;g3a5d8bcc884_0_129:notes">
            <a:extLst>
              <a:ext uri="{FF2B5EF4-FFF2-40B4-BE49-F238E27FC236}">
                <a16:creationId xmlns:a16="http://schemas.microsoft.com/office/drawing/2014/main" id="{548603B0-B16E-6590-6B9C-1725B41BC9B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a5d8bcc884_0_129:notes">
            <a:extLst>
              <a:ext uri="{FF2B5EF4-FFF2-40B4-BE49-F238E27FC236}">
                <a16:creationId xmlns:a16="http://schemas.microsoft.com/office/drawing/2014/main" id="{24FA5755-B6D4-4026-B1AD-95A0AB6605A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64785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a:extLst>
            <a:ext uri="{FF2B5EF4-FFF2-40B4-BE49-F238E27FC236}">
              <a16:creationId xmlns:a16="http://schemas.microsoft.com/office/drawing/2014/main" id="{23908CBD-9A95-0109-0DAA-C646FE7DDC7D}"/>
            </a:ext>
          </a:extLst>
        </p:cNvPr>
        <p:cNvGrpSpPr/>
        <p:nvPr/>
      </p:nvGrpSpPr>
      <p:grpSpPr>
        <a:xfrm>
          <a:off x="0" y="0"/>
          <a:ext cx="0" cy="0"/>
          <a:chOff x="0" y="0"/>
          <a:chExt cx="0" cy="0"/>
        </a:xfrm>
      </p:grpSpPr>
      <p:sp>
        <p:nvSpPr>
          <p:cNvPr id="137" name="Google Shape;137;g3a5d8bcc884_0_129:notes">
            <a:extLst>
              <a:ext uri="{FF2B5EF4-FFF2-40B4-BE49-F238E27FC236}">
                <a16:creationId xmlns:a16="http://schemas.microsoft.com/office/drawing/2014/main" id="{2E477D6B-2F8A-B722-FEF6-8DDEF51B270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a5d8bcc884_0_129:notes">
            <a:extLst>
              <a:ext uri="{FF2B5EF4-FFF2-40B4-BE49-F238E27FC236}">
                <a16:creationId xmlns:a16="http://schemas.microsoft.com/office/drawing/2014/main" id="{1FD48F6C-2D9C-932E-7191-84B5D86000A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99034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a:extLst>
            <a:ext uri="{FF2B5EF4-FFF2-40B4-BE49-F238E27FC236}">
              <a16:creationId xmlns:a16="http://schemas.microsoft.com/office/drawing/2014/main" id="{A3F2D34A-B7A0-A698-7EF9-5D8071BB3427}"/>
            </a:ext>
          </a:extLst>
        </p:cNvPr>
        <p:cNvGrpSpPr/>
        <p:nvPr/>
      </p:nvGrpSpPr>
      <p:grpSpPr>
        <a:xfrm>
          <a:off x="0" y="0"/>
          <a:ext cx="0" cy="0"/>
          <a:chOff x="0" y="0"/>
          <a:chExt cx="0" cy="0"/>
        </a:xfrm>
      </p:grpSpPr>
      <p:sp>
        <p:nvSpPr>
          <p:cNvPr id="137" name="Google Shape;137;g3a5d8bcc884_0_129:notes">
            <a:extLst>
              <a:ext uri="{FF2B5EF4-FFF2-40B4-BE49-F238E27FC236}">
                <a16:creationId xmlns:a16="http://schemas.microsoft.com/office/drawing/2014/main" id="{D18AE4B9-E3B3-E4E4-18F5-CA206D296E6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a5d8bcc884_0_129:notes">
            <a:extLst>
              <a:ext uri="{FF2B5EF4-FFF2-40B4-BE49-F238E27FC236}">
                <a16:creationId xmlns:a16="http://schemas.microsoft.com/office/drawing/2014/main" id="{7A2135B5-5713-067B-F7F9-502ECBB6F9B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938967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a:extLst>
            <a:ext uri="{FF2B5EF4-FFF2-40B4-BE49-F238E27FC236}">
              <a16:creationId xmlns:a16="http://schemas.microsoft.com/office/drawing/2014/main" id="{42E2676C-1D3A-8EAD-3B1C-049E1616BDEC}"/>
            </a:ext>
          </a:extLst>
        </p:cNvPr>
        <p:cNvGrpSpPr/>
        <p:nvPr/>
      </p:nvGrpSpPr>
      <p:grpSpPr>
        <a:xfrm>
          <a:off x="0" y="0"/>
          <a:ext cx="0" cy="0"/>
          <a:chOff x="0" y="0"/>
          <a:chExt cx="0" cy="0"/>
        </a:xfrm>
      </p:grpSpPr>
      <p:sp>
        <p:nvSpPr>
          <p:cNvPr id="137" name="Google Shape;137;g3a5d8bcc884_0_129:notes">
            <a:extLst>
              <a:ext uri="{FF2B5EF4-FFF2-40B4-BE49-F238E27FC236}">
                <a16:creationId xmlns:a16="http://schemas.microsoft.com/office/drawing/2014/main" id="{C4310629-428B-3370-B5E0-28D61D63DB0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a5d8bcc884_0_129:notes">
            <a:extLst>
              <a:ext uri="{FF2B5EF4-FFF2-40B4-BE49-F238E27FC236}">
                <a16:creationId xmlns:a16="http://schemas.microsoft.com/office/drawing/2014/main" id="{13EF492E-A009-D4E7-947F-D7BDC94A084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139216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a:extLst>
            <a:ext uri="{FF2B5EF4-FFF2-40B4-BE49-F238E27FC236}">
              <a16:creationId xmlns:a16="http://schemas.microsoft.com/office/drawing/2014/main" id="{75342DBC-9CB0-9782-40C9-AB70F8005264}"/>
            </a:ext>
          </a:extLst>
        </p:cNvPr>
        <p:cNvGrpSpPr/>
        <p:nvPr/>
      </p:nvGrpSpPr>
      <p:grpSpPr>
        <a:xfrm>
          <a:off x="0" y="0"/>
          <a:ext cx="0" cy="0"/>
          <a:chOff x="0" y="0"/>
          <a:chExt cx="0" cy="0"/>
        </a:xfrm>
      </p:grpSpPr>
      <p:sp>
        <p:nvSpPr>
          <p:cNvPr id="137" name="Google Shape;137;g3a5d8bcc884_0_129:notes">
            <a:extLst>
              <a:ext uri="{FF2B5EF4-FFF2-40B4-BE49-F238E27FC236}">
                <a16:creationId xmlns:a16="http://schemas.microsoft.com/office/drawing/2014/main" id="{C8A20017-CC08-CE80-5750-028FB4044B6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a5d8bcc884_0_129:notes">
            <a:extLst>
              <a:ext uri="{FF2B5EF4-FFF2-40B4-BE49-F238E27FC236}">
                <a16:creationId xmlns:a16="http://schemas.microsoft.com/office/drawing/2014/main" id="{0087DAED-2086-1B68-77F9-6C8F2739431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504130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a:extLst>
            <a:ext uri="{FF2B5EF4-FFF2-40B4-BE49-F238E27FC236}">
              <a16:creationId xmlns:a16="http://schemas.microsoft.com/office/drawing/2014/main" id="{355F0B70-4FE9-2D0B-91A3-FD979723F658}"/>
            </a:ext>
          </a:extLst>
        </p:cNvPr>
        <p:cNvGrpSpPr/>
        <p:nvPr/>
      </p:nvGrpSpPr>
      <p:grpSpPr>
        <a:xfrm>
          <a:off x="0" y="0"/>
          <a:ext cx="0" cy="0"/>
          <a:chOff x="0" y="0"/>
          <a:chExt cx="0" cy="0"/>
        </a:xfrm>
      </p:grpSpPr>
      <p:sp>
        <p:nvSpPr>
          <p:cNvPr id="137" name="Google Shape;137;g3a5d8bcc884_0_129:notes">
            <a:extLst>
              <a:ext uri="{FF2B5EF4-FFF2-40B4-BE49-F238E27FC236}">
                <a16:creationId xmlns:a16="http://schemas.microsoft.com/office/drawing/2014/main" id="{D62FB1B9-32F4-E4B9-6B71-582AD21EFE5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a5d8bcc884_0_129:notes">
            <a:extLst>
              <a:ext uri="{FF2B5EF4-FFF2-40B4-BE49-F238E27FC236}">
                <a16:creationId xmlns:a16="http://schemas.microsoft.com/office/drawing/2014/main" id="{9D30B8A5-6878-C738-B4DD-30DEB9F810B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320490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a:extLst>
            <a:ext uri="{FF2B5EF4-FFF2-40B4-BE49-F238E27FC236}">
              <a16:creationId xmlns:a16="http://schemas.microsoft.com/office/drawing/2014/main" id="{709A72F5-64C9-A0BE-3B1B-1DC5A5059600}"/>
            </a:ext>
          </a:extLst>
        </p:cNvPr>
        <p:cNvGrpSpPr/>
        <p:nvPr/>
      </p:nvGrpSpPr>
      <p:grpSpPr>
        <a:xfrm>
          <a:off x="0" y="0"/>
          <a:ext cx="0" cy="0"/>
          <a:chOff x="0" y="0"/>
          <a:chExt cx="0" cy="0"/>
        </a:xfrm>
      </p:grpSpPr>
      <p:sp>
        <p:nvSpPr>
          <p:cNvPr id="137" name="Google Shape;137;g3a5d8bcc884_0_129:notes">
            <a:extLst>
              <a:ext uri="{FF2B5EF4-FFF2-40B4-BE49-F238E27FC236}">
                <a16:creationId xmlns:a16="http://schemas.microsoft.com/office/drawing/2014/main" id="{13A0CDDE-7147-66B8-D195-54395F1D387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a5d8bcc884_0_129:notes">
            <a:extLst>
              <a:ext uri="{FF2B5EF4-FFF2-40B4-BE49-F238E27FC236}">
                <a16:creationId xmlns:a16="http://schemas.microsoft.com/office/drawing/2014/main" id="{3A70F054-52CE-5E09-A214-F5D1EE4111C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367562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a:extLst>
            <a:ext uri="{FF2B5EF4-FFF2-40B4-BE49-F238E27FC236}">
              <a16:creationId xmlns:a16="http://schemas.microsoft.com/office/drawing/2014/main" id="{E708CEAC-9FE1-E85C-2CD9-1A1BB9D6FFF5}"/>
            </a:ext>
          </a:extLst>
        </p:cNvPr>
        <p:cNvGrpSpPr/>
        <p:nvPr/>
      </p:nvGrpSpPr>
      <p:grpSpPr>
        <a:xfrm>
          <a:off x="0" y="0"/>
          <a:ext cx="0" cy="0"/>
          <a:chOff x="0" y="0"/>
          <a:chExt cx="0" cy="0"/>
        </a:xfrm>
      </p:grpSpPr>
      <p:sp>
        <p:nvSpPr>
          <p:cNvPr id="137" name="Google Shape;137;g3a5d8bcc884_0_129:notes">
            <a:extLst>
              <a:ext uri="{FF2B5EF4-FFF2-40B4-BE49-F238E27FC236}">
                <a16:creationId xmlns:a16="http://schemas.microsoft.com/office/drawing/2014/main" id="{8CF21218-4455-0B1E-21C1-7B4476743A2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a5d8bcc884_0_129:notes">
            <a:extLst>
              <a:ext uri="{FF2B5EF4-FFF2-40B4-BE49-F238E27FC236}">
                <a16:creationId xmlns:a16="http://schemas.microsoft.com/office/drawing/2014/main" id="{8608F67F-0F96-8A37-AB51-18F4A2CD484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464288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a:extLst>
            <a:ext uri="{FF2B5EF4-FFF2-40B4-BE49-F238E27FC236}">
              <a16:creationId xmlns:a16="http://schemas.microsoft.com/office/drawing/2014/main" id="{78EC08E1-B3B2-7105-2560-989179A1A302}"/>
            </a:ext>
          </a:extLst>
        </p:cNvPr>
        <p:cNvGrpSpPr/>
        <p:nvPr/>
      </p:nvGrpSpPr>
      <p:grpSpPr>
        <a:xfrm>
          <a:off x="0" y="0"/>
          <a:ext cx="0" cy="0"/>
          <a:chOff x="0" y="0"/>
          <a:chExt cx="0" cy="0"/>
        </a:xfrm>
      </p:grpSpPr>
      <p:sp>
        <p:nvSpPr>
          <p:cNvPr id="137" name="Google Shape;137;g3a5d8bcc884_0_129:notes">
            <a:extLst>
              <a:ext uri="{FF2B5EF4-FFF2-40B4-BE49-F238E27FC236}">
                <a16:creationId xmlns:a16="http://schemas.microsoft.com/office/drawing/2014/main" id="{F70345CE-301B-77E7-D8B4-5C5AA5D0098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a5d8bcc884_0_129:notes">
            <a:extLst>
              <a:ext uri="{FF2B5EF4-FFF2-40B4-BE49-F238E27FC236}">
                <a16:creationId xmlns:a16="http://schemas.microsoft.com/office/drawing/2014/main" id="{69F21392-648C-2999-FE33-5AB3676FD36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685825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a:extLst>
            <a:ext uri="{FF2B5EF4-FFF2-40B4-BE49-F238E27FC236}">
              <a16:creationId xmlns:a16="http://schemas.microsoft.com/office/drawing/2014/main" id="{6F6AC7C1-D2A7-1F1B-8B38-FB4F042E8D32}"/>
            </a:ext>
          </a:extLst>
        </p:cNvPr>
        <p:cNvGrpSpPr/>
        <p:nvPr/>
      </p:nvGrpSpPr>
      <p:grpSpPr>
        <a:xfrm>
          <a:off x="0" y="0"/>
          <a:ext cx="0" cy="0"/>
          <a:chOff x="0" y="0"/>
          <a:chExt cx="0" cy="0"/>
        </a:xfrm>
      </p:grpSpPr>
      <p:sp>
        <p:nvSpPr>
          <p:cNvPr id="137" name="Google Shape;137;g3a5d8bcc884_0_129:notes">
            <a:extLst>
              <a:ext uri="{FF2B5EF4-FFF2-40B4-BE49-F238E27FC236}">
                <a16:creationId xmlns:a16="http://schemas.microsoft.com/office/drawing/2014/main" id="{8864338D-5440-728E-F308-73E0CB0A27E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a5d8bcc884_0_129:notes">
            <a:extLst>
              <a:ext uri="{FF2B5EF4-FFF2-40B4-BE49-F238E27FC236}">
                <a16:creationId xmlns:a16="http://schemas.microsoft.com/office/drawing/2014/main" id="{F0AAE6B4-E231-1272-8A19-941FA7EB56E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520317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a:extLst>
            <a:ext uri="{FF2B5EF4-FFF2-40B4-BE49-F238E27FC236}">
              <a16:creationId xmlns:a16="http://schemas.microsoft.com/office/drawing/2014/main" id="{73FFD3DD-1568-4E75-F49C-3F7B205BEED3}"/>
            </a:ext>
          </a:extLst>
        </p:cNvPr>
        <p:cNvGrpSpPr/>
        <p:nvPr/>
      </p:nvGrpSpPr>
      <p:grpSpPr>
        <a:xfrm>
          <a:off x="0" y="0"/>
          <a:ext cx="0" cy="0"/>
          <a:chOff x="0" y="0"/>
          <a:chExt cx="0" cy="0"/>
        </a:xfrm>
      </p:grpSpPr>
      <p:sp>
        <p:nvSpPr>
          <p:cNvPr id="137" name="Google Shape;137;g3a5d8bcc884_0_129:notes">
            <a:extLst>
              <a:ext uri="{FF2B5EF4-FFF2-40B4-BE49-F238E27FC236}">
                <a16:creationId xmlns:a16="http://schemas.microsoft.com/office/drawing/2014/main" id="{8DB7708C-D000-E0BF-7819-4E526D5689D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a5d8bcc884_0_129:notes">
            <a:extLst>
              <a:ext uri="{FF2B5EF4-FFF2-40B4-BE49-F238E27FC236}">
                <a16:creationId xmlns:a16="http://schemas.microsoft.com/office/drawing/2014/main" id="{99F34E7D-16D7-E22F-E88F-43AF8D51C8D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976764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a:extLst>
            <a:ext uri="{FF2B5EF4-FFF2-40B4-BE49-F238E27FC236}">
              <a16:creationId xmlns:a16="http://schemas.microsoft.com/office/drawing/2014/main" id="{B1DCA727-B1C6-E1C4-4A8C-4BB5B5DA20DC}"/>
            </a:ext>
          </a:extLst>
        </p:cNvPr>
        <p:cNvGrpSpPr/>
        <p:nvPr/>
      </p:nvGrpSpPr>
      <p:grpSpPr>
        <a:xfrm>
          <a:off x="0" y="0"/>
          <a:ext cx="0" cy="0"/>
          <a:chOff x="0" y="0"/>
          <a:chExt cx="0" cy="0"/>
        </a:xfrm>
      </p:grpSpPr>
      <p:sp>
        <p:nvSpPr>
          <p:cNvPr id="137" name="Google Shape;137;g3a5d8bcc884_0_129:notes">
            <a:extLst>
              <a:ext uri="{FF2B5EF4-FFF2-40B4-BE49-F238E27FC236}">
                <a16:creationId xmlns:a16="http://schemas.microsoft.com/office/drawing/2014/main" id="{6008D56C-594C-77FA-09D7-76FC3431A5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a5d8bcc884_0_129:notes">
            <a:extLst>
              <a:ext uri="{FF2B5EF4-FFF2-40B4-BE49-F238E27FC236}">
                <a16:creationId xmlns:a16="http://schemas.microsoft.com/office/drawing/2014/main" id="{1869B71E-A4B7-9830-380D-38114B866DF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99427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6"/>
        </a:solidFill>
        <a:effectLst/>
      </p:bgPr>
    </p:bg>
    <p:spTree>
      <p:nvGrpSpPr>
        <p:cNvPr id="1"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509632"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255200"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1159826"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905395"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7279439"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6917201"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7279439"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6917201"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 name="Google Shape;34;p2"/>
          <p:cNvSpPr txBox="1">
            <a:spLocks noGrp="1"/>
          </p:cNvSpPr>
          <p:nvPr>
            <p:ph type="ctrTitle"/>
          </p:nvPr>
        </p:nvSpPr>
        <p:spPr>
          <a:xfrm>
            <a:off x="1858703" y="1822833"/>
            <a:ext cx="5361300" cy="14481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a:endParaRPr/>
          </a:p>
        </p:txBody>
      </p:sp>
      <p:sp>
        <p:nvSpPr>
          <p:cNvPr id="35" name="Google Shape;35;p2"/>
          <p:cNvSpPr txBox="1">
            <a:spLocks noGrp="1"/>
          </p:cNvSpPr>
          <p:nvPr>
            <p:ph type="subTitle" idx="1"/>
          </p:nvPr>
        </p:nvSpPr>
        <p:spPr>
          <a:xfrm>
            <a:off x="1858700" y="3413158"/>
            <a:ext cx="5361300" cy="52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36" name="Google Shape;36;p2"/>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3"/>
            <p:cNvSpPr/>
            <p:nvPr/>
          </p:nvSpPr>
          <p:spPr>
            <a:xfrm>
              <a:off x="7279439"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3"/>
            <p:cNvSpPr/>
            <p:nvPr/>
          </p:nvSpPr>
          <p:spPr>
            <a:xfrm>
              <a:off x="6917201"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3"/>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 name="Google Shape;47;p3"/>
          <p:cNvSpPr txBox="1">
            <a:spLocks noGrp="1"/>
          </p:cNvSpPr>
          <p:nvPr>
            <p:ph type="title"/>
          </p:nvPr>
        </p:nvSpPr>
        <p:spPr>
          <a:xfrm>
            <a:off x="1888684" y="1746100"/>
            <a:ext cx="5377500" cy="16461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a:endParaRPr/>
          </a:p>
        </p:txBody>
      </p:sp>
      <p:sp>
        <p:nvSpPr>
          <p:cNvPr id="48" name="Google Shape;48;p3"/>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solidFill>
          <a:schemeClr val="dk2"/>
        </a:solidFill>
        <a:effectLst/>
      </p:bgPr>
    </p:bg>
    <p:spTree>
      <p:nvGrpSpPr>
        <p:cNvPr id="1"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4"/>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54" name="Google Shape;54;p4"/>
          <p:cNvSpPr txBox="1">
            <a:spLocks noGrp="1"/>
          </p:cNvSpPr>
          <p:nvPr>
            <p:ph type="body" idx="1"/>
          </p:nvPr>
        </p:nvSpPr>
        <p:spPr>
          <a:xfrm>
            <a:off x="819150" y="1990725"/>
            <a:ext cx="7505700" cy="244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5" name="Google Shape;55;p4"/>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solidFill>
          <a:schemeClr val="dk2"/>
        </a:solidFill>
        <a:effectLst/>
      </p:bgPr>
    </p:bg>
    <p:spTree>
      <p:nvGrpSpPr>
        <p:cNvPr id="1"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5"/>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61" name="Google Shape;61;p5"/>
          <p:cNvSpPr txBox="1">
            <a:spLocks noGrp="1"/>
          </p:cNvSpPr>
          <p:nvPr>
            <p:ph type="body" idx="1"/>
          </p:nvPr>
        </p:nvSpPr>
        <p:spPr>
          <a:xfrm>
            <a:off x="819150" y="1990725"/>
            <a:ext cx="3686100" cy="244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2" name="Google Shape;62;p5"/>
          <p:cNvSpPr txBox="1">
            <a:spLocks noGrp="1"/>
          </p:cNvSpPr>
          <p:nvPr>
            <p:ph type="body" idx="2"/>
          </p:nvPr>
        </p:nvSpPr>
        <p:spPr>
          <a:xfrm>
            <a:off x="4638675" y="1990725"/>
            <a:ext cx="3686100" cy="244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3" name="Google Shape;63;p5"/>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solidFill>
          <a:schemeClr val="dk2"/>
        </a:solidFill>
        <a:effectLst/>
      </p:bgPr>
    </p:bg>
    <p:spTree>
      <p:nvGrpSpPr>
        <p:cNvPr id="1"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6"/>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69" name="Google Shape;69;p6"/>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solidFill>
          <a:schemeClr val="accent3"/>
        </a:solidFill>
        <a:effectLst/>
      </p:bgPr>
    </p:bg>
    <p:spTree>
      <p:nvGrpSpPr>
        <p:cNvPr id="1"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7"/>
          <p:cNvSpPr/>
          <p:nvPr/>
        </p:nvSpPr>
        <p:spPr>
          <a:xfrm>
            <a:off x="31" y="2824500"/>
            <a:ext cx="7370400" cy="23190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7"/>
          <p:cNvSpPr txBox="1">
            <a:spLocks noGrp="1"/>
          </p:cNvSpPr>
          <p:nvPr>
            <p:ph type="title"/>
          </p:nvPr>
        </p:nvSpPr>
        <p:spPr>
          <a:xfrm>
            <a:off x="819150" y="845600"/>
            <a:ext cx="3709200" cy="13830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75" name="Google Shape;75;p7"/>
          <p:cNvSpPr txBox="1">
            <a:spLocks noGrp="1"/>
          </p:cNvSpPr>
          <p:nvPr>
            <p:ph type="body" idx="1"/>
          </p:nvPr>
        </p:nvSpPr>
        <p:spPr>
          <a:xfrm>
            <a:off x="830700" y="2319050"/>
            <a:ext cx="3709200" cy="21198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76" name="Google Shape;76;p7"/>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1"/>
        </a:solidFill>
        <a:effectLst/>
      </p:bgPr>
    </p:bg>
    <p:spTree>
      <p:nvGrpSpPr>
        <p:cNvPr id="1"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8"/>
            <p:cNvSpPr/>
            <p:nvPr/>
          </p:nvSpPr>
          <p:spPr>
            <a:xfrm>
              <a:off x="4093430"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8"/>
            <p:cNvSpPr/>
            <p:nvPr/>
          </p:nvSpPr>
          <p:spPr>
            <a:xfrm>
              <a:off x="3961956"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8"/>
            <p:cNvSpPr/>
            <p:nvPr/>
          </p:nvSpPr>
          <p:spPr>
            <a:xfrm>
              <a:off x="7279439"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8"/>
            <p:cNvSpPr/>
            <p:nvPr/>
          </p:nvSpPr>
          <p:spPr>
            <a:xfrm>
              <a:off x="6917201"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8"/>
            <p:cNvSpPr/>
            <p:nvPr/>
          </p:nvSpPr>
          <p:spPr>
            <a:xfrm>
              <a:off x="7279439"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8"/>
            <p:cNvSpPr/>
            <p:nvPr/>
          </p:nvSpPr>
          <p:spPr>
            <a:xfrm>
              <a:off x="6917201"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3" name="Google Shape;93;p8"/>
          <p:cNvSpPr txBox="1">
            <a:spLocks noGrp="1"/>
          </p:cNvSpPr>
          <p:nvPr>
            <p:ph type="title"/>
          </p:nvPr>
        </p:nvSpPr>
        <p:spPr>
          <a:xfrm>
            <a:off x="1393929" y="1301146"/>
            <a:ext cx="6366900" cy="25392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a:endParaRPr/>
          </a:p>
        </p:txBody>
      </p:sp>
      <p:sp>
        <p:nvSpPr>
          <p:cNvPr id="94" name="Google Shape;94;p8"/>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solidFill>
          <a:schemeClr val="dk2"/>
        </a:solidFill>
        <a:effectLst/>
      </p:bgPr>
    </p:bg>
    <p:spTree>
      <p:nvGrpSpPr>
        <p:cNvPr id="1"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9"/>
          <p:cNvSpPr txBox="1">
            <a:spLocks noGrp="1"/>
          </p:cNvSpPr>
          <p:nvPr>
            <p:ph type="title"/>
          </p:nvPr>
        </p:nvSpPr>
        <p:spPr>
          <a:xfrm>
            <a:off x="819150" y="845600"/>
            <a:ext cx="6424200" cy="7050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100" name="Google Shape;100;p9"/>
          <p:cNvSpPr txBox="1">
            <a:spLocks noGrp="1"/>
          </p:cNvSpPr>
          <p:nvPr>
            <p:ph type="subTitle" idx="1"/>
          </p:nvPr>
        </p:nvSpPr>
        <p:spPr>
          <a:xfrm>
            <a:off x="819150" y="1550700"/>
            <a:ext cx="5859900" cy="3936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101" name="Google Shape;101;p9"/>
          <p:cNvSpPr txBox="1">
            <a:spLocks noGrp="1"/>
          </p:cNvSpPr>
          <p:nvPr>
            <p:ph type="body" idx="2"/>
          </p:nvPr>
        </p:nvSpPr>
        <p:spPr>
          <a:xfrm>
            <a:off x="819150" y="2467050"/>
            <a:ext cx="5859900" cy="2095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02" name="Google Shape;102;p9"/>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bg>
      <p:bgPr>
        <a:solidFill>
          <a:schemeClr val="accent1"/>
        </a:solidFill>
        <a:effectLst/>
      </p:bgPr>
    </p:bg>
    <p:spTree>
      <p:nvGrpSpPr>
        <p:cNvPr id="1"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10"/>
          <p:cNvSpPr txBox="1">
            <a:spLocks noGrp="1"/>
          </p:cNvSpPr>
          <p:nvPr>
            <p:ph type="body" idx="1"/>
          </p:nvPr>
        </p:nvSpPr>
        <p:spPr>
          <a:xfrm>
            <a:off x="328025" y="4163500"/>
            <a:ext cx="7415100" cy="605100"/>
          </a:xfrm>
          <a:prstGeom prst="rect">
            <a:avLst/>
          </a:prstGeom>
        </p:spPr>
        <p:txBody>
          <a:bodyPr spcFirstLastPara="1" wrap="square" lIns="91425" tIns="91425" rIns="91425" bIns="91425" anchor="b" anchorCtr="0">
            <a:normAutofit/>
          </a:bodyPr>
          <a:lstStyle>
            <a:lvl1pPr marL="457200" lvl="0" indent="-228600">
              <a:lnSpc>
                <a:spcPct val="100000"/>
              </a:lnSpc>
              <a:spcBef>
                <a:spcPts val="0"/>
              </a:spcBef>
              <a:spcAft>
                <a:spcPts val="0"/>
              </a:spcAft>
              <a:buSzPts val="1300"/>
              <a:buNone/>
              <a:defRPr/>
            </a:lvl1pPr>
          </a:lstStyle>
          <a:p>
            <a:endParaRPr/>
          </a:p>
        </p:txBody>
      </p:sp>
      <p:sp>
        <p:nvSpPr>
          <p:cNvPr id="108" name="Google Shape;108;p10"/>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3"/>
        </a:solidFill>
        <a:effectLst/>
      </p:bgPr>
    </p:bg>
    <p:spTree>
      <p:nvGrpSpPr>
        <p:cNvPr id="1"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1"/>
            <p:cNvSpPr/>
            <p:nvPr/>
          </p:nvSpPr>
          <p:spPr>
            <a:xfrm>
              <a:off x="7279439"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1"/>
            <p:cNvSpPr/>
            <p:nvPr/>
          </p:nvSpPr>
          <p:spPr>
            <a:xfrm>
              <a:off x="6917201"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1"/>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1"/>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9" name="Google Shape;119;p11"/>
          <p:cNvSpPr txBox="1">
            <a:spLocks noGrp="1"/>
          </p:cNvSpPr>
          <p:nvPr>
            <p:ph type="title" hasCustomPrompt="1"/>
          </p:nvPr>
        </p:nvSpPr>
        <p:spPr>
          <a:xfrm>
            <a:off x="1385850" y="1383850"/>
            <a:ext cx="6372300" cy="13797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a:spLocks noGrp="1"/>
          </p:cNvSpPr>
          <p:nvPr>
            <p:ph type="body" idx="1"/>
          </p:nvPr>
        </p:nvSpPr>
        <p:spPr>
          <a:xfrm>
            <a:off x="1385850" y="2863850"/>
            <a:ext cx="6372300" cy="641100"/>
          </a:xfrm>
          <a:prstGeom prst="rect">
            <a:avLst/>
          </a:prstGeom>
        </p:spPr>
        <p:txBody>
          <a:bodyPr spcFirstLastPara="1" wrap="square" lIns="91425" tIns="91425" rIns="91425" bIns="91425" anchor="t" anchorCtr="0">
            <a:normAutofit/>
          </a:bodyPr>
          <a:lstStyle>
            <a:lvl1pPr marL="457200" lvl="0" indent="-311150" algn="ctr">
              <a:spcBef>
                <a:spcPts val="0"/>
              </a:spcBef>
              <a:spcAft>
                <a:spcPts val="0"/>
              </a:spcAft>
              <a:buSzPts val="1300"/>
              <a:buChar char="●"/>
              <a:defRPr/>
            </a:lvl1pPr>
            <a:lvl2pPr marL="914400" lvl="1" indent="-298450" algn="ctr">
              <a:spcBef>
                <a:spcPts val="0"/>
              </a:spcBef>
              <a:spcAft>
                <a:spcPts val="0"/>
              </a:spcAft>
              <a:buSzPts val="1100"/>
              <a:buChar char="○"/>
              <a:defRPr/>
            </a:lvl2pPr>
            <a:lvl3pPr marL="1371600" lvl="2" indent="-298450" algn="ctr">
              <a:spcBef>
                <a:spcPts val="0"/>
              </a:spcBef>
              <a:spcAft>
                <a:spcPts val="0"/>
              </a:spcAft>
              <a:buSzPts val="1100"/>
              <a:buChar char="■"/>
              <a:defRPr/>
            </a:lvl3pPr>
            <a:lvl4pPr marL="1828800" lvl="3" indent="-298450" algn="ctr">
              <a:spcBef>
                <a:spcPts val="0"/>
              </a:spcBef>
              <a:spcAft>
                <a:spcPts val="0"/>
              </a:spcAft>
              <a:buSzPts val="1100"/>
              <a:buChar char="●"/>
              <a:defRPr/>
            </a:lvl4pPr>
            <a:lvl5pPr marL="2286000" lvl="4" indent="-298450" algn="ctr">
              <a:spcBef>
                <a:spcPts val="0"/>
              </a:spcBef>
              <a:spcAft>
                <a:spcPts val="0"/>
              </a:spcAft>
              <a:buSzPts val="1100"/>
              <a:buChar char="○"/>
              <a:defRPr/>
            </a:lvl5pPr>
            <a:lvl6pPr marL="2743200" lvl="5" indent="-298450" algn="ctr">
              <a:spcBef>
                <a:spcPts val="0"/>
              </a:spcBef>
              <a:spcAft>
                <a:spcPts val="0"/>
              </a:spcAft>
              <a:buSzPts val="1100"/>
              <a:buChar char="■"/>
              <a:defRPr/>
            </a:lvl6pPr>
            <a:lvl7pPr marL="3200400" lvl="6" indent="-298450" algn="ctr">
              <a:spcBef>
                <a:spcPts val="0"/>
              </a:spcBef>
              <a:spcAft>
                <a:spcPts val="0"/>
              </a:spcAft>
              <a:buSzPts val="1100"/>
              <a:buChar char="●"/>
              <a:defRPr/>
            </a:lvl7pPr>
            <a:lvl8pPr marL="3657600" lvl="7" indent="-298450" algn="ctr">
              <a:spcBef>
                <a:spcPts val="0"/>
              </a:spcBef>
              <a:spcAft>
                <a:spcPts val="0"/>
              </a:spcAft>
              <a:buSzPts val="1100"/>
              <a:buChar char="○"/>
              <a:defRPr/>
            </a:lvl8pPr>
            <a:lvl9pPr marL="4114800" lvl="8" indent="-298450" algn="ctr">
              <a:spcBef>
                <a:spcPts val="0"/>
              </a:spcBef>
              <a:spcAft>
                <a:spcPts val="0"/>
              </a:spcAft>
              <a:buSzPts val="1100"/>
              <a:buChar char="■"/>
              <a:defRPr/>
            </a:lvl9pPr>
          </a:lstStyle>
          <a:p>
            <a:endParaRPr/>
          </a:p>
        </p:txBody>
      </p:sp>
      <p:sp>
        <p:nvSpPr>
          <p:cNvPr id="121" name="Google Shape;121;p11"/>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2"/>
        <p:cNvGrpSpPr/>
        <p:nvPr/>
      </p:nvGrpSpPr>
      <p:grpSpPr>
        <a:xfrm>
          <a:off x="0" y="0"/>
          <a:ext cx="0" cy="0"/>
          <a:chOff x="0" y="0"/>
          <a:chExt cx="0" cy="0"/>
        </a:xfrm>
      </p:grpSpPr>
      <p:sp>
        <p:nvSpPr>
          <p:cNvPr id="123" name="Google Shape;123;p12"/>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hift">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a:endParaRPr/>
          </a:p>
        </p:txBody>
      </p:sp>
      <p:sp>
        <p:nvSpPr>
          <p:cNvPr id="7" name="Google Shape;7;p1"/>
          <p:cNvSpPr txBox="1">
            <a:spLocks noGrp="1"/>
          </p:cNvSpPr>
          <p:nvPr>
            <p:ph type="body" idx="1"/>
          </p:nvPr>
        </p:nvSpPr>
        <p:spPr>
          <a:xfrm>
            <a:off x="311700" y="1152475"/>
            <a:ext cx="8520600" cy="33912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marL="914400" lvl="1"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marL="1371600" lvl="2"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marL="1828800" lvl="3"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marL="2286000" lvl="4"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marL="2743200" lvl="5"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marL="3200400" lvl="6"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marL="3657600" lvl="7"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marL="4114800" lvl="8"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a:endParaRPr/>
          </a:p>
        </p:txBody>
      </p:sp>
      <p:sp>
        <p:nvSpPr>
          <p:cNvPr id="8" name="Google Shape;8;p1"/>
          <p:cNvSpPr txBox="1">
            <a:spLocks noGrp="1"/>
          </p:cNvSpPr>
          <p:nvPr>
            <p:ph type="sldNum" idx="12"/>
          </p:nvPr>
        </p:nvSpPr>
        <p:spPr>
          <a:xfrm>
            <a:off x="8390734" y="4543668"/>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zh-TW"/>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13"/>
          <p:cNvSpPr txBox="1">
            <a:spLocks noGrp="1"/>
          </p:cNvSpPr>
          <p:nvPr>
            <p:ph type="ctrTitle"/>
          </p:nvPr>
        </p:nvSpPr>
        <p:spPr>
          <a:xfrm>
            <a:off x="1299900" y="1692325"/>
            <a:ext cx="6544200" cy="14814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zh-TW" dirty="0">
                <a:latin typeface="Times New Roman" panose="02020603050405020304" pitchFamily="18" charset="0"/>
                <a:cs typeface="Times New Roman" panose="02020603050405020304" pitchFamily="18" charset="0"/>
              </a:rPr>
              <a:t>MambaIC: State Space Models for High-Performance Learned Image Compression</a:t>
            </a:r>
            <a:endParaRPr dirty="0">
              <a:latin typeface="Times New Roman" panose="02020603050405020304" pitchFamily="18" charset="0"/>
              <a:cs typeface="Times New Roman" panose="02020603050405020304" pitchFamily="18" charset="0"/>
            </a:endParaRPr>
          </a:p>
        </p:txBody>
      </p:sp>
      <p:sp>
        <p:nvSpPr>
          <p:cNvPr id="129" name="Google Shape;129;p13"/>
          <p:cNvSpPr txBox="1">
            <a:spLocks noGrp="1"/>
          </p:cNvSpPr>
          <p:nvPr>
            <p:ph type="subTitle" idx="1"/>
          </p:nvPr>
        </p:nvSpPr>
        <p:spPr>
          <a:xfrm>
            <a:off x="1858700" y="3413158"/>
            <a:ext cx="5361300" cy="52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14"/>
          <p:cNvSpPr txBox="1">
            <a:spLocks noGrp="1"/>
          </p:cNvSpPr>
          <p:nvPr>
            <p:ph type="title"/>
          </p:nvPr>
        </p:nvSpPr>
        <p:spPr>
          <a:xfrm>
            <a:off x="421816" y="889207"/>
            <a:ext cx="7505700" cy="954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zh-TW" sz="4000" b="1" dirty="0">
                <a:latin typeface="Times New Roman" panose="02020603050405020304" pitchFamily="18" charset="0"/>
                <a:cs typeface="Times New Roman" panose="02020603050405020304" pitchFamily="18" charset="0"/>
              </a:rPr>
              <a:t>Outline</a:t>
            </a:r>
            <a:endParaRPr sz="4000" b="1" dirty="0">
              <a:latin typeface="Times New Roman" panose="02020603050405020304" pitchFamily="18" charset="0"/>
              <a:cs typeface="Times New Roman" panose="02020603050405020304" pitchFamily="18" charset="0"/>
            </a:endParaRPr>
          </a:p>
        </p:txBody>
      </p:sp>
      <p:sp>
        <p:nvSpPr>
          <p:cNvPr id="135" name="Google Shape;135;p14"/>
          <p:cNvSpPr txBox="1">
            <a:spLocks noGrp="1"/>
          </p:cNvSpPr>
          <p:nvPr>
            <p:ph type="body" idx="1"/>
          </p:nvPr>
        </p:nvSpPr>
        <p:spPr>
          <a:xfrm>
            <a:off x="421816" y="1596300"/>
            <a:ext cx="8639682" cy="2448000"/>
          </a:xfrm>
          <a:prstGeom prst="rect">
            <a:avLst/>
          </a:prstGeom>
        </p:spPr>
        <p:txBody>
          <a:bodyPr spcFirstLastPara="1" wrap="square" lIns="91425" tIns="91425" rIns="91425" bIns="91425" anchor="t" anchorCtr="0">
            <a:noAutofit/>
          </a:bodyPr>
          <a:lstStyle/>
          <a:p>
            <a:pPr marL="457200" lvl="0" indent="-419100" algn="l" rtl="0">
              <a:lnSpc>
                <a:spcPct val="150000"/>
              </a:lnSpc>
              <a:spcBef>
                <a:spcPts val="0"/>
              </a:spcBef>
              <a:spcAft>
                <a:spcPts val="0"/>
              </a:spcAft>
              <a:buClr>
                <a:srgbClr val="303030"/>
              </a:buClr>
              <a:buSzPts val="3000"/>
              <a:buFont typeface="Arial"/>
              <a:buChar char="●"/>
            </a:pPr>
            <a:r>
              <a:rPr lang="zh-TW" sz="3000" dirty="0">
                <a:solidFill>
                  <a:srgbClr val="303030"/>
                </a:solidFill>
                <a:latin typeface="Times New Roman" panose="02020603050405020304" pitchFamily="18" charset="0"/>
                <a:ea typeface="Arial"/>
                <a:cs typeface="Times New Roman" panose="02020603050405020304" pitchFamily="18" charset="0"/>
                <a:sym typeface="Arial"/>
              </a:rPr>
              <a:t>Introduction and Motivation</a:t>
            </a:r>
            <a:endParaRPr sz="3000" dirty="0">
              <a:solidFill>
                <a:srgbClr val="303030"/>
              </a:solidFill>
              <a:latin typeface="Times New Roman" panose="02020603050405020304" pitchFamily="18" charset="0"/>
              <a:ea typeface="Arial"/>
              <a:cs typeface="Times New Roman" panose="02020603050405020304" pitchFamily="18" charset="0"/>
              <a:sym typeface="Arial"/>
            </a:endParaRPr>
          </a:p>
          <a:p>
            <a:pPr marL="457200" lvl="0" indent="-419100" algn="l" rtl="0">
              <a:lnSpc>
                <a:spcPct val="150000"/>
              </a:lnSpc>
              <a:spcBef>
                <a:spcPts val="0"/>
              </a:spcBef>
              <a:spcAft>
                <a:spcPts val="0"/>
              </a:spcAft>
              <a:buClr>
                <a:srgbClr val="303030"/>
              </a:buClr>
              <a:buSzPts val="3000"/>
              <a:buFont typeface="Arial"/>
              <a:buChar char="●"/>
            </a:pPr>
            <a:r>
              <a:rPr lang="zh-TW" sz="3000" dirty="0">
                <a:solidFill>
                  <a:srgbClr val="303030"/>
                </a:solidFill>
                <a:latin typeface="Times New Roman" panose="02020603050405020304" pitchFamily="18" charset="0"/>
                <a:ea typeface="Arial"/>
                <a:cs typeface="Times New Roman" panose="02020603050405020304" pitchFamily="18" charset="0"/>
                <a:sym typeface="Arial"/>
              </a:rPr>
              <a:t>Background and Architecture</a:t>
            </a:r>
            <a:endParaRPr sz="3000" dirty="0">
              <a:solidFill>
                <a:srgbClr val="303030"/>
              </a:solidFill>
              <a:latin typeface="Times New Roman" panose="02020603050405020304" pitchFamily="18" charset="0"/>
              <a:ea typeface="Arial"/>
              <a:cs typeface="Times New Roman" panose="02020603050405020304" pitchFamily="18" charset="0"/>
              <a:sym typeface="Arial"/>
            </a:endParaRPr>
          </a:p>
          <a:p>
            <a:pPr marL="457200" lvl="0" indent="-419100" algn="l" rtl="0">
              <a:lnSpc>
                <a:spcPct val="150000"/>
              </a:lnSpc>
              <a:spcBef>
                <a:spcPts val="0"/>
              </a:spcBef>
              <a:spcAft>
                <a:spcPts val="0"/>
              </a:spcAft>
              <a:buClr>
                <a:srgbClr val="303030"/>
              </a:buClr>
              <a:buSzPts val="3000"/>
              <a:buFont typeface="Arial"/>
              <a:buChar char="●"/>
            </a:pPr>
            <a:r>
              <a:rPr lang="zh-TW" sz="3000" dirty="0">
                <a:solidFill>
                  <a:srgbClr val="303030"/>
                </a:solidFill>
                <a:latin typeface="Times New Roman" panose="02020603050405020304" pitchFamily="18" charset="0"/>
                <a:ea typeface="Arial"/>
                <a:cs typeface="Times New Roman" panose="02020603050405020304" pitchFamily="18" charset="0"/>
                <a:sym typeface="Arial"/>
              </a:rPr>
              <a:t>Unique Components and Experimental Validation</a:t>
            </a:r>
            <a:endParaRPr sz="3000" dirty="0">
              <a:solidFill>
                <a:srgbClr val="303030"/>
              </a:solidFill>
              <a:latin typeface="Times New Roman" panose="02020603050405020304" pitchFamily="18" charset="0"/>
              <a:ea typeface="Arial"/>
              <a:cs typeface="Times New Roman" panose="02020603050405020304" pitchFamily="18" charset="0"/>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15"/>
          <p:cNvSpPr txBox="1">
            <a:spLocks noGrp="1"/>
          </p:cNvSpPr>
          <p:nvPr>
            <p:ph type="title"/>
          </p:nvPr>
        </p:nvSpPr>
        <p:spPr>
          <a:xfrm>
            <a:off x="458157" y="310450"/>
            <a:ext cx="7505700" cy="954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zh-TW" b="1" dirty="0">
                <a:latin typeface="Times New Roman" panose="02020603050405020304" pitchFamily="18" charset="0"/>
                <a:cs typeface="Times New Roman" panose="02020603050405020304" pitchFamily="18" charset="0"/>
              </a:rPr>
              <a:t>The Need for Image Compression</a:t>
            </a:r>
            <a:endParaRPr b="1" dirty="0">
              <a:latin typeface="Times New Roman" panose="02020603050405020304" pitchFamily="18" charset="0"/>
              <a:cs typeface="Times New Roman" panose="02020603050405020304" pitchFamily="18" charset="0"/>
            </a:endParaRPr>
          </a:p>
        </p:txBody>
      </p:sp>
      <p:sp>
        <p:nvSpPr>
          <p:cNvPr id="141" name="Google Shape;141;p15"/>
          <p:cNvSpPr txBox="1">
            <a:spLocks noGrp="1"/>
          </p:cNvSpPr>
          <p:nvPr>
            <p:ph type="body" idx="1"/>
          </p:nvPr>
        </p:nvSpPr>
        <p:spPr>
          <a:xfrm>
            <a:off x="486898" y="961850"/>
            <a:ext cx="8170203" cy="3871200"/>
          </a:xfrm>
          <a:prstGeom prst="rect">
            <a:avLst/>
          </a:prstGeom>
        </p:spPr>
        <p:txBody>
          <a:bodyPr spcFirstLastPara="1" wrap="square" lIns="91425" tIns="91425" rIns="91425" bIns="91425" anchor="t" anchorCtr="0">
            <a:noAutofit/>
          </a:bodyPr>
          <a:lstStyle/>
          <a:p>
            <a:pPr marL="0" lvl="0" indent="0" algn="just" rtl="0">
              <a:spcBef>
                <a:spcPts val="0"/>
              </a:spcBef>
              <a:spcAft>
                <a:spcPts val="1200"/>
              </a:spcAft>
              <a:buNone/>
            </a:pPr>
            <a:r>
              <a:rPr lang="zh-TW" sz="2600" dirty="0">
                <a:solidFill>
                  <a:srgbClr val="303030"/>
                </a:solidFill>
                <a:latin typeface="Times New Roman" panose="02020603050405020304" pitchFamily="18" charset="0"/>
                <a:ea typeface="Arial"/>
                <a:cs typeface="Times New Roman" panose="02020603050405020304" pitchFamily="18" charset="0"/>
                <a:sym typeface="Arial"/>
              </a:rPr>
              <a:t>Image compression is crucial for image storage and real-time information transmission, especially given the rapid increase in high-definition, high-resolution, and large-scale digital images. Traditional formats (JPEG, VVC, BPG) and modern Learned Image Compression (LIC) methods based on CNNs and Transformers have emerged</a:t>
            </a:r>
            <a:endParaRPr sz="2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6"/>
          <p:cNvSpPr txBox="1">
            <a:spLocks noGrp="1"/>
          </p:cNvSpPr>
          <p:nvPr>
            <p:ph type="title"/>
          </p:nvPr>
        </p:nvSpPr>
        <p:spPr>
          <a:xfrm>
            <a:off x="409575" y="439963"/>
            <a:ext cx="8448603" cy="954600"/>
          </a:xfrm>
          <a:prstGeom prst="rect">
            <a:avLst/>
          </a:prstGeom>
        </p:spPr>
        <p:txBody>
          <a:bodyPr spcFirstLastPara="1" wrap="square" lIns="91425" tIns="91425" rIns="91425" bIns="91425" anchor="t" anchorCtr="0">
            <a:normAutofit fontScale="90000"/>
          </a:bodyPr>
          <a:lstStyle/>
          <a:p>
            <a:pPr lvl="0"/>
            <a:r>
              <a:rPr lang="en-US" altLang="zh-TW" b="1" dirty="0">
                <a:latin typeface="Times New Roman" panose="02020603050405020304" pitchFamily="18" charset="0"/>
                <a:cs typeface="Times New Roman" panose="02020603050405020304" pitchFamily="18" charset="0"/>
              </a:rPr>
              <a:t>Motivation : Addressing Computational Bottlenecks</a:t>
            </a:r>
            <a:endParaRPr b="1" dirty="0">
              <a:latin typeface="Times New Roman" panose="02020603050405020304" pitchFamily="18" charset="0"/>
              <a:cs typeface="Times New Roman" panose="02020603050405020304" pitchFamily="18" charset="0"/>
            </a:endParaRPr>
          </a:p>
        </p:txBody>
      </p:sp>
      <p:sp>
        <p:nvSpPr>
          <p:cNvPr id="147" name="Google Shape;147;p16"/>
          <p:cNvSpPr txBox="1">
            <a:spLocks noGrp="1"/>
          </p:cNvSpPr>
          <p:nvPr>
            <p:ph type="body" idx="1"/>
          </p:nvPr>
        </p:nvSpPr>
        <p:spPr>
          <a:xfrm>
            <a:off x="409575" y="999766"/>
            <a:ext cx="8324850" cy="2448000"/>
          </a:xfrm>
          <a:prstGeom prst="rect">
            <a:avLst/>
          </a:prstGeom>
        </p:spPr>
        <p:txBody>
          <a:bodyPr spcFirstLastPara="1" wrap="square" lIns="91425" tIns="91425" rIns="91425" bIns="91425" anchor="t" anchorCtr="0">
            <a:noAutofit/>
          </a:bodyPr>
          <a:lstStyle/>
          <a:p>
            <a:pPr marL="0" indent="0" algn="just">
              <a:spcAft>
                <a:spcPts val="1200"/>
              </a:spcAft>
              <a:buNone/>
            </a:pPr>
            <a:r>
              <a:rPr lang="en-US" altLang="zh-TW" sz="2600" dirty="0">
                <a:solidFill>
                  <a:schemeClr val="tx2">
                    <a:lumMod val="10000"/>
                  </a:schemeClr>
                </a:solidFill>
                <a:latin typeface="Times New Roman" panose="02020603050405020304" pitchFamily="18" charset="0"/>
                <a:cs typeface="Times New Roman" panose="02020603050405020304" pitchFamily="18" charset="0"/>
              </a:rPr>
              <a:t>The Problem: Despite rapid progress, high-performance LIC methods still face significant bottlenecks, specifically computational inefficiency and poor redundancy modeling, which limit practical applications. While Transformer-based methods often outperform CNNs, they suffer from quadratic complexity relative to the number of pixels, resulting in substantial latency, particularly when dealing with high-resolution image compression.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9">
          <a:extLst>
            <a:ext uri="{FF2B5EF4-FFF2-40B4-BE49-F238E27FC236}">
              <a16:creationId xmlns:a16="http://schemas.microsoft.com/office/drawing/2014/main" id="{CFA2062F-47AC-772B-C0E5-665C7C2E7A50}"/>
            </a:ext>
          </a:extLst>
        </p:cNvPr>
        <p:cNvGrpSpPr/>
        <p:nvPr/>
      </p:nvGrpSpPr>
      <p:grpSpPr>
        <a:xfrm>
          <a:off x="0" y="0"/>
          <a:ext cx="0" cy="0"/>
          <a:chOff x="0" y="0"/>
          <a:chExt cx="0" cy="0"/>
        </a:xfrm>
      </p:grpSpPr>
      <p:sp>
        <p:nvSpPr>
          <p:cNvPr id="140" name="Google Shape;140;p15">
            <a:extLst>
              <a:ext uri="{FF2B5EF4-FFF2-40B4-BE49-F238E27FC236}">
                <a16:creationId xmlns:a16="http://schemas.microsoft.com/office/drawing/2014/main" id="{88264D36-916A-7748-0C79-4C9A6123474D}"/>
              </a:ext>
            </a:extLst>
          </p:cNvPr>
          <p:cNvSpPr txBox="1">
            <a:spLocks noGrp="1"/>
          </p:cNvSpPr>
          <p:nvPr>
            <p:ph type="title"/>
          </p:nvPr>
        </p:nvSpPr>
        <p:spPr>
          <a:xfrm>
            <a:off x="373175" y="483950"/>
            <a:ext cx="8227314" cy="954600"/>
          </a:xfrm>
          <a:prstGeom prst="rect">
            <a:avLst/>
          </a:prstGeom>
        </p:spPr>
        <p:txBody>
          <a:bodyPr spcFirstLastPara="1" wrap="square" lIns="91425" tIns="91425" rIns="91425" bIns="91425" anchor="t" anchorCtr="0">
            <a:normAutofit fontScale="90000"/>
          </a:bodyPr>
          <a:lstStyle/>
          <a:p>
            <a:pPr lvl="0"/>
            <a:r>
              <a:rPr lang="en-US" altLang="zh-TW" b="1" dirty="0">
                <a:latin typeface="Times New Roman" panose="02020603050405020304" pitchFamily="18" charset="0"/>
                <a:cs typeface="Times New Roman" panose="02020603050405020304" pitchFamily="18" charset="0"/>
              </a:rPr>
              <a:t>Motivation : The SSM Solution (</a:t>
            </a:r>
            <a:r>
              <a:rPr lang="en-US" altLang="zh-TW" b="1" dirty="0" err="1">
                <a:latin typeface="Times New Roman" panose="02020603050405020304" pitchFamily="18" charset="0"/>
                <a:cs typeface="Times New Roman" panose="02020603050405020304" pitchFamily="18" charset="0"/>
              </a:rPr>
              <a:t>MambaIC's</a:t>
            </a:r>
            <a:r>
              <a:rPr lang="en-US" altLang="zh-TW" b="1" dirty="0">
                <a:latin typeface="Times New Roman" panose="02020603050405020304" pitchFamily="18" charset="0"/>
                <a:cs typeface="Times New Roman" panose="02020603050405020304" pitchFamily="18" charset="0"/>
              </a:rPr>
              <a:t> Thesis)</a:t>
            </a:r>
            <a:endParaRPr b="1" dirty="0">
              <a:latin typeface="Times New Roman" panose="02020603050405020304" pitchFamily="18" charset="0"/>
              <a:cs typeface="Times New Roman" panose="02020603050405020304" pitchFamily="18" charset="0"/>
            </a:endParaRPr>
          </a:p>
        </p:txBody>
      </p:sp>
      <p:sp>
        <p:nvSpPr>
          <p:cNvPr id="141" name="Google Shape;141;p15">
            <a:extLst>
              <a:ext uri="{FF2B5EF4-FFF2-40B4-BE49-F238E27FC236}">
                <a16:creationId xmlns:a16="http://schemas.microsoft.com/office/drawing/2014/main" id="{AEE5DA0A-A1E9-EAD5-368D-D34ADFD223FA}"/>
              </a:ext>
            </a:extLst>
          </p:cNvPr>
          <p:cNvSpPr txBox="1">
            <a:spLocks noGrp="1"/>
          </p:cNvSpPr>
          <p:nvPr>
            <p:ph type="body" idx="1"/>
          </p:nvPr>
        </p:nvSpPr>
        <p:spPr>
          <a:xfrm>
            <a:off x="373175" y="961250"/>
            <a:ext cx="8488800" cy="3871200"/>
          </a:xfrm>
          <a:prstGeom prst="rect">
            <a:avLst/>
          </a:prstGeom>
        </p:spPr>
        <p:txBody>
          <a:bodyPr spcFirstLastPara="1" wrap="square" lIns="91425" tIns="91425" rIns="91425" bIns="91425" anchor="t" anchorCtr="0">
            <a:noAutofit/>
          </a:bodyPr>
          <a:lstStyle/>
          <a:p>
            <a:pPr marL="0" lvl="0" indent="0" algn="just" rtl="0">
              <a:spcBef>
                <a:spcPts val="0"/>
              </a:spcBef>
              <a:spcAft>
                <a:spcPts val="1200"/>
              </a:spcAft>
              <a:buNone/>
            </a:pPr>
            <a:r>
              <a:rPr lang="zh-TW" sz="2600" dirty="0">
                <a:solidFill>
                  <a:srgbClr val="303030"/>
                </a:solidFill>
                <a:latin typeface="Times New Roman" panose="02020603050405020304" pitchFamily="18" charset="0"/>
                <a:ea typeface="Arial"/>
                <a:cs typeface="Times New Roman" panose="02020603050405020304" pitchFamily="18" charset="0"/>
                <a:sym typeface="Arial"/>
              </a:rPr>
              <a:t>Image compression is crucial for image storage and real-time information transmission, especially given the rapid increase in high-definition, high-resolution, and large-scale digital images. Traditional formats (JPEG, VVC, BPG) and modern Learned Image Compression (LIC) methods based on CNNs and Transformers have emerged</a:t>
            </a:r>
            <a:r>
              <a:rPr lang="en-US" altLang="zh-TW" sz="2600" dirty="0">
                <a:solidFill>
                  <a:srgbClr val="303030"/>
                </a:solidFill>
                <a:latin typeface="Times New Roman" panose="02020603050405020304" pitchFamily="18" charset="0"/>
                <a:ea typeface="Arial"/>
                <a:cs typeface="Times New Roman" panose="02020603050405020304" pitchFamily="18" charset="0"/>
                <a:sym typeface="Arial"/>
              </a:rPr>
              <a:t>.</a:t>
            </a:r>
            <a:endParaRPr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613879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9">
          <a:extLst>
            <a:ext uri="{FF2B5EF4-FFF2-40B4-BE49-F238E27FC236}">
              <a16:creationId xmlns:a16="http://schemas.microsoft.com/office/drawing/2014/main" id="{3C8A82FE-8E6D-312B-93E3-28095D0D0195}"/>
            </a:ext>
          </a:extLst>
        </p:cNvPr>
        <p:cNvGrpSpPr/>
        <p:nvPr/>
      </p:nvGrpSpPr>
      <p:grpSpPr>
        <a:xfrm>
          <a:off x="0" y="0"/>
          <a:ext cx="0" cy="0"/>
          <a:chOff x="0" y="0"/>
          <a:chExt cx="0" cy="0"/>
        </a:xfrm>
      </p:grpSpPr>
      <p:sp>
        <p:nvSpPr>
          <p:cNvPr id="140" name="Google Shape;140;p15">
            <a:extLst>
              <a:ext uri="{FF2B5EF4-FFF2-40B4-BE49-F238E27FC236}">
                <a16:creationId xmlns:a16="http://schemas.microsoft.com/office/drawing/2014/main" id="{6EC8EE63-6C80-DFE7-FDB3-38B62E651E84}"/>
              </a:ext>
            </a:extLst>
          </p:cNvPr>
          <p:cNvSpPr txBox="1">
            <a:spLocks noGrp="1"/>
          </p:cNvSpPr>
          <p:nvPr>
            <p:ph type="title"/>
          </p:nvPr>
        </p:nvSpPr>
        <p:spPr>
          <a:xfrm>
            <a:off x="819150" y="310450"/>
            <a:ext cx="7505700" cy="954600"/>
          </a:xfrm>
          <a:prstGeom prst="rect">
            <a:avLst/>
          </a:prstGeom>
        </p:spPr>
        <p:txBody>
          <a:bodyPr spcFirstLastPara="1" wrap="square" lIns="91425" tIns="91425" rIns="91425" bIns="91425" anchor="t" anchorCtr="0">
            <a:normAutofit/>
          </a:bodyPr>
          <a:lstStyle/>
          <a:p>
            <a:pPr lvl="0"/>
            <a:r>
              <a:rPr lang="en-US" altLang="zh-TW" b="1" dirty="0">
                <a:latin typeface="Times New Roman" panose="02020603050405020304" pitchFamily="18" charset="0"/>
                <a:cs typeface="Times New Roman" panose="02020603050405020304" pitchFamily="18" charset="0"/>
              </a:rPr>
              <a:t>Understanding State Space Models (SSMs)</a:t>
            </a:r>
            <a:endParaRPr b="1" dirty="0">
              <a:latin typeface="Times New Roman" panose="02020603050405020304" pitchFamily="18" charset="0"/>
              <a:cs typeface="Times New Roman" panose="02020603050405020304" pitchFamily="18" charset="0"/>
            </a:endParaRPr>
          </a:p>
        </p:txBody>
      </p:sp>
      <p:sp>
        <p:nvSpPr>
          <p:cNvPr id="141" name="Google Shape;141;p15">
            <a:extLst>
              <a:ext uri="{FF2B5EF4-FFF2-40B4-BE49-F238E27FC236}">
                <a16:creationId xmlns:a16="http://schemas.microsoft.com/office/drawing/2014/main" id="{AC8356BB-D74D-FF80-F47B-55DE1F4861BD}"/>
              </a:ext>
            </a:extLst>
          </p:cNvPr>
          <p:cNvSpPr txBox="1">
            <a:spLocks noGrp="1"/>
          </p:cNvSpPr>
          <p:nvPr>
            <p:ph type="body" idx="1"/>
          </p:nvPr>
        </p:nvSpPr>
        <p:spPr>
          <a:xfrm>
            <a:off x="373175" y="961250"/>
            <a:ext cx="8488800" cy="3871200"/>
          </a:xfrm>
          <a:prstGeom prst="rect">
            <a:avLst/>
          </a:prstGeom>
        </p:spPr>
        <p:txBody>
          <a:bodyPr spcFirstLastPara="1" wrap="square" lIns="91425" tIns="91425" rIns="91425" bIns="91425" anchor="t" anchorCtr="0">
            <a:noAutofit/>
          </a:bodyPr>
          <a:lstStyle/>
          <a:p>
            <a:pPr marL="0" lvl="0" indent="0" algn="just">
              <a:spcAft>
                <a:spcPts val="1200"/>
              </a:spcAft>
              <a:buNone/>
            </a:pPr>
            <a:r>
              <a:rPr lang="en-US" altLang="zh-TW" sz="2600" dirty="0">
                <a:solidFill>
                  <a:srgbClr val="303030"/>
                </a:solidFill>
                <a:latin typeface="Times New Roman" panose="02020603050405020304" pitchFamily="18" charset="0"/>
                <a:ea typeface="Arial"/>
                <a:cs typeface="Times New Roman" panose="02020603050405020304" pitchFamily="18" charset="0"/>
                <a:sym typeface="Arial"/>
              </a:rPr>
              <a:t>The Opportunity: State Space Models (SSMs) provide a novel architecture paradigm with inherent advantages over CNNs and Transformers, including reduced complexity and hardware-friendly computation. </a:t>
            </a:r>
            <a:r>
              <a:rPr lang="en-US" altLang="zh-TW" sz="2600" dirty="0" err="1">
                <a:solidFill>
                  <a:srgbClr val="303030"/>
                </a:solidFill>
                <a:latin typeface="Times New Roman" panose="02020603050405020304" pitchFamily="18" charset="0"/>
                <a:ea typeface="Arial"/>
                <a:cs typeface="Times New Roman" panose="02020603050405020304" pitchFamily="18" charset="0"/>
                <a:sym typeface="Arial"/>
              </a:rPr>
              <a:t>MambaIC's</a:t>
            </a:r>
            <a:r>
              <a:rPr lang="en-US" altLang="zh-TW" sz="2600" dirty="0">
                <a:solidFill>
                  <a:srgbClr val="303030"/>
                </a:solidFill>
                <a:latin typeface="Times New Roman" panose="02020603050405020304" pitchFamily="18" charset="0"/>
                <a:ea typeface="Arial"/>
                <a:cs typeface="Times New Roman" panose="02020603050405020304" pitchFamily="18" charset="0"/>
                <a:sym typeface="Arial"/>
              </a:rPr>
              <a:t> Goal: We leverage the effectiveness of SSMs in capturing long-range dependencies to address computational inefficiency and improve compression performance, leading to a better efficiency-performance trade-off</a:t>
            </a:r>
            <a:endParaRPr sz="2600"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B401E527-8570-2ED3-2B3E-0285F4BD2766}"/>
              </a:ext>
            </a:extLst>
          </p:cNvPr>
          <p:cNvSpPr>
            <a:spLocks noChangeArrowheads="1"/>
          </p:cNvSpPr>
          <p:nvPr/>
        </p:nvSpPr>
        <p:spPr bwMode="auto">
          <a:xfrm>
            <a:off x="0" y="0"/>
            <a:ext cx="9144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zh-TW" sz="1000" b="0" i="0" u="none" strike="noStrike" cap="none" normalizeH="0" baseline="0">
                <a:ln>
                  <a:noFill/>
                </a:ln>
                <a:solidFill>
                  <a:srgbClr val="303030"/>
                </a:solidFill>
                <a:effectLst/>
                <a:latin typeface="Arial" panose="020B0604020202020204" pitchFamily="34" charset="0"/>
                <a:ea typeface="Google Sans Text"/>
              </a:rPr>
              <a:t>SSMs aim to model long sequences with </a:t>
            </a:r>
            <a:r>
              <a:rPr kumimoji="0" lang="zh-TW" altLang="zh-TW" sz="1000" b="1" i="0" u="none" strike="noStrike" cap="none" normalizeH="0" baseline="0">
                <a:ln>
                  <a:noFill/>
                </a:ln>
                <a:solidFill>
                  <a:srgbClr val="303030"/>
                </a:solidFill>
                <a:effectLst/>
                <a:latin typeface="Arial" panose="020B0604020202020204" pitchFamily="34" charset="0"/>
                <a:ea typeface="Google Sans Text"/>
              </a:rPr>
              <a:t>linear-time complexity</a:t>
            </a:r>
            <a:r>
              <a:rPr kumimoji="0" lang="zh-TW" altLang="zh-TW" sz="1000" b="0" i="0" u="none" strike="noStrike" cap="none" normalizeH="0" baseline="0">
                <a:ln>
                  <a:noFill/>
                </a:ln>
                <a:solidFill>
                  <a:srgbClr val="303030"/>
                </a:solidFill>
                <a:effectLst/>
                <a:latin typeface="Arial" panose="020B0604020202020204" pitchFamily="34" charset="0"/>
                <a:ea typeface="Google Sans Text"/>
              </a:rPr>
              <a:t>, tackling the computational efficiency problem. The Mamba architecture enhances SSMs significantly by introducing an </a:t>
            </a:r>
            <a:r>
              <a:rPr kumimoji="0" lang="zh-TW" altLang="zh-TW" sz="1000" b="1" i="0" u="none" strike="noStrike" cap="none" normalizeH="0" baseline="0">
                <a:ln>
                  <a:noFill/>
                </a:ln>
                <a:solidFill>
                  <a:srgbClr val="303030"/>
                </a:solidFill>
                <a:effectLst/>
                <a:latin typeface="Arial" panose="020B0604020202020204" pitchFamily="34" charset="0"/>
                <a:ea typeface="Google Sans Text"/>
              </a:rPr>
              <a:t>input-dependent selection technique</a:t>
            </a:r>
            <a:r>
              <a:rPr kumimoji="0" lang="zh-TW" altLang="zh-TW" sz="1000" b="0" i="0" u="none" strike="noStrike" cap="none" normalizeH="0" baseline="0">
                <a:ln>
                  <a:noFill/>
                </a:ln>
                <a:solidFill>
                  <a:srgbClr val="303030"/>
                </a:solidFill>
                <a:effectLst/>
                <a:latin typeface="Arial" panose="020B0604020202020204" pitchFamily="34" charset="0"/>
                <a:ea typeface="Google Sans Text"/>
              </a:rPr>
              <a:t>. These models have demonstrated impressive potential across various vision tasks (e.g., Vim, Mambavision).</a:t>
            </a:r>
            <a:r>
              <a:rPr kumimoji="0" lang="zh-TW" altLang="zh-TW" sz="600" b="0" i="0" u="none" strike="noStrike" cap="none" normalizeH="0" baseline="0">
                <a:ln>
                  <a:noFill/>
                </a:ln>
                <a:solidFill>
                  <a:schemeClr val="tx1"/>
                </a:solidFill>
                <a:effectLst/>
                <a:latin typeface="Arial" panose="020B0604020202020204" pitchFamily="34" charset="0"/>
              </a:rPr>
              <a:t> </a:t>
            </a:r>
            <a:endParaRPr kumimoji="0" lang="zh-TW" altLang="zh-TW" sz="1800" b="0" i="0" u="none" strike="noStrike" cap="none" normalizeH="0" baseline="0">
              <a:ln>
                <a:noFill/>
              </a:ln>
              <a:solidFill>
                <a:schemeClr val="tx1"/>
              </a:solidFill>
              <a:effectLst/>
              <a:latin typeface="Arial" panose="020B0604020202020204" pitchFamily="34" charset="0"/>
            </a:endParaRPr>
          </a:p>
        </p:txBody>
      </p:sp>
      <p:sp>
        <p:nvSpPr>
          <p:cNvPr id="4" name="Rectangle 3">
            <a:extLst>
              <a:ext uri="{FF2B5EF4-FFF2-40B4-BE49-F238E27FC236}">
                <a16:creationId xmlns:a16="http://schemas.microsoft.com/office/drawing/2014/main" id="{02ECCF3B-A5DB-F0BC-DEE0-4F37F634DCDD}"/>
              </a:ext>
            </a:extLst>
          </p:cNvPr>
          <p:cNvSpPr>
            <a:spLocks noChangeArrowheads="1"/>
          </p:cNvSpPr>
          <p:nvPr/>
        </p:nvSpPr>
        <p:spPr bwMode="auto">
          <a:xfrm>
            <a:off x="152400" y="152400"/>
            <a:ext cx="9144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zh-TW" sz="1000" b="0" i="0" u="none" strike="noStrike" cap="none" normalizeH="0" baseline="0">
                <a:ln>
                  <a:noFill/>
                </a:ln>
                <a:solidFill>
                  <a:srgbClr val="303030"/>
                </a:solidFill>
                <a:effectLst/>
                <a:latin typeface="Arial" panose="020B0604020202020204" pitchFamily="34" charset="0"/>
                <a:ea typeface="Google Sans Text"/>
              </a:rPr>
              <a:t>SSMs aim to model long sequences with </a:t>
            </a:r>
            <a:r>
              <a:rPr kumimoji="0" lang="zh-TW" altLang="zh-TW" sz="1000" b="1" i="0" u="none" strike="noStrike" cap="none" normalizeH="0" baseline="0">
                <a:ln>
                  <a:noFill/>
                </a:ln>
                <a:solidFill>
                  <a:srgbClr val="303030"/>
                </a:solidFill>
                <a:effectLst/>
                <a:latin typeface="Arial" panose="020B0604020202020204" pitchFamily="34" charset="0"/>
                <a:ea typeface="Google Sans Text"/>
              </a:rPr>
              <a:t>linear-time complexity</a:t>
            </a:r>
            <a:r>
              <a:rPr kumimoji="0" lang="zh-TW" altLang="zh-TW" sz="1000" b="0" i="0" u="none" strike="noStrike" cap="none" normalizeH="0" baseline="0">
                <a:ln>
                  <a:noFill/>
                </a:ln>
                <a:solidFill>
                  <a:srgbClr val="303030"/>
                </a:solidFill>
                <a:effectLst/>
                <a:latin typeface="Arial" panose="020B0604020202020204" pitchFamily="34" charset="0"/>
                <a:ea typeface="Google Sans Text"/>
              </a:rPr>
              <a:t>, tackling the computational efficiency problem. The Mamba architecture enhances SSMs significantly by introducing an </a:t>
            </a:r>
            <a:r>
              <a:rPr kumimoji="0" lang="zh-TW" altLang="zh-TW" sz="1000" b="1" i="0" u="none" strike="noStrike" cap="none" normalizeH="0" baseline="0">
                <a:ln>
                  <a:noFill/>
                </a:ln>
                <a:solidFill>
                  <a:srgbClr val="303030"/>
                </a:solidFill>
                <a:effectLst/>
                <a:latin typeface="Arial" panose="020B0604020202020204" pitchFamily="34" charset="0"/>
                <a:ea typeface="Google Sans Text"/>
              </a:rPr>
              <a:t>input-dependent selection technique</a:t>
            </a:r>
            <a:r>
              <a:rPr kumimoji="0" lang="zh-TW" altLang="zh-TW" sz="1000" b="0" i="0" u="none" strike="noStrike" cap="none" normalizeH="0" baseline="0">
                <a:ln>
                  <a:noFill/>
                </a:ln>
                <a:solidFill>
                  <a:srgbClr val="303030"/>
                </a:solidFill>
                <a:effectLst/>
                <a:latin typeface="Arial" panose="020B0604020202020204" pitchFamily="34" charset="0"/>
                <a:ea typeface="Google Sans Text"/>
              </a:rPr>
              <a:t>. These models have demonstrated impressive potential across various vision tasks (e.g., Vim, Mambavision).</a:t>
            </a:r>
            <a:r>
              <a:rPr kumimoji="0" lang="zh-TW" altLang="zh-TW" sz="600" b="0" i="0" u="none" strike="noStrike" cap="none" normalizeH="0" baseline="0">
                <a:ln>
                  <a:noFill/>
                </a:ln>
                <a:solidFill>
                  <a:schemeClr val="tx1"/>
                </a:solidFill>
                <a:effectLst/>
                <a:latin typeface="Arial" panose="020B0604020202020204" pitchFamily="34" charset="0"/>
              </a:rPr>
              <a:t> </a:t>
            </a:r>
            <a:endParaRPr kumimoji="0" lang="zh-TW" altLang="zh-TW"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882452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9">
          <a:extLst>
            <a:ext uri="{FF2B5EF4-FFF2-40B4-BE49-F238E27FC236}">
              <a16:creationId xmlns:a16="http://schemas.microsoft.com/office/drawing/2014/main" id="{0A322455-F6FF-FF63-71FC-12926F0F9601}"/>
            </a:ext>
          </a:extLst>
        </p:cNvPr>
        <p:cNvGrpSpPr/>
        <p:nvPr/>
      </p:nvGrpSpPr>
      <p:grpSpPr>
        <a:xfrm>
          <a:off x="0" y="0"/>
          <a:ext cx="0" cy="0"/>
          <a:chOff x="0" y="0"/>
          <a:chExt cx="0" cy="0"/>
        </a:xfrm>
      </p:grpSpPr>
      <p:sp>
        <p:nvSpPr>
          <p:cNvPr id="140" name="Google Shape;140;p15">
            <a:extLst>
              <a:ext uri="{FF2B5EF4-FFF2-40B4-BE49-F238E27FC236}">
                <a16:creationId xmlns:a16="http://schemas.microsoft.com/office/drawing/2014/main" id="{FEC0F6F1-853E-E89D-0FA8-4A245ED18985}"/>
              </a:ext>
            </a:extLst>
          </p:cNvPr>
          <p:cNvSpPr txBox="1">
            <a:spLocks noGrp="1"/>
          </p:cNvSpPr>
          <p:nvPr>
            <p:ph type="title"/>
          </p:nvPr>
        </p:nvSpPr>
        <p:spPr>
          <a:xfrm>
            <a:off x="819150" y="310450"/>
            <a:ext cx="7505700" cy="954600"/>
          </a:xfrm>
          <a:prstGeom prst="rect">
            <a:avLst/>
          </a:prstGeom>
        </p:spPr>
        <p:txBody>
          <a:bodyPr spcFirstLastPara="1" wrap="square" lIns="91425" tIns="91425" rIns="91425" bIns="91425" anchor="t" anchorCtr="0">
            <a:normAutofit fontScale="90000"/>
          </a:bodyPr>
          <a:lstStyle/>
          <a:p>
            <a:pPr lvl="0"/>
            <a:r>
              <a:rPr lang="en-US" altLang="zh-TW" b="1" dirty="0">
                <a:latin typeface="Times New Roman" panose="02020603050405020304" pitchFamily="18" charset="0"/>
                <a:cs typeface="Times New Roman" panose="02020603050405020304" pitchFamily="18" charset="0"/>
              </a:rPr>
              <a:t>Limitations of Prior SSM Attempts (</a:t>
            </a:r>
            <a:r>
              <a:rPr lang="en-US" altLang="zh-TW" b="1" dirty="0" err="1">
                <a:latin typeface="Times New Roman" panose="02020603050405020304" pitchFamily="18" charset="0"/>
                <a:cs typeface="Times New Roman" panose="02020603050405020304" pitchFamily="18" charset="0"/>
              </a:rPr>
              <a:t>MambaVC</a:t>
            </a:r>
            <a:r>
              <a:rPr lang="en-US" altLang="zh-TW" b="1" dirty="0">
                <a:latin typeface="Times New Roman" panose="02020603050405020304" pitchFamily="18" charset="0"/>
                <a:cs typeface="Times New Roman" panose="02020603050405020304" pitchFamily="18" charset="0"/>
              </a:rPr>
              <a:t>)</a:t>
            </a:r>
            <a:endParaRPr dirty="0">
              <a:latin typeface="Times New Roman" panose="02020603050405020304" pitchFamily="18" charset="0"/>
              <a:cs typeface="Times New Roman" panose="02020603050405020304" pitchFamily="18" charset="0"/>
            </a:endParaRPr>
          </a:p>
        </p:txBody>
      </p:sp>
      <p:sp>
        <p:nvSpPr>
          <p:cNvPr id="141" name="Google Shape;141;p15">
            <a:extLst>
              <a:ext uri="{FF2B5EF4-FFF2-40B4-BE49-F238E27FC236}">
                <a16:creationId xmlns:a16="http://schemas.microsoft.com/office/drawing/2014/main" id="{D9B47D9E-C1B3-6D43-871A-B98BBB6BA6A8}"/>
              </a:ext>
            </a:extLst>
          </p:cNvPr>
          <p:cNvSpPr txBox="1">
            <a:spLocks noGrp="1"/>
          </p:cNvSpPr>
          <p:nvPr>
            <p:ph type="body" idx="1"/>
          </p:nvPr>
        </p:nvSpPr>
        <p:spPr>
          <a:xfrm>
            <a:off x="373175" y="961250"/>
            <a:ext cx="8488800" cy="3871200"/>
          </a:xfrm>
          <a:prstGeom prst="rect">
            <a:avLst/>
          </a:prstGeom>
        </p:spPr>
        <p:txBody>
          <a:bodyPr spcFirstLastPara="1" wrap="square" lIns="91425" tIns="91425" rIns="91425" bIns="91425" anchor="t" anchorCtr="0">
            <a:noAutofit/>
          </a:bodyPr>
          <a:lstStyle/>
          <a:p>
            <a:pPr marL="0" indent="0" algn="just">
              <a:spcAft>
                <a:spcPts val="1200"/>
              </a:spcAft>
              <a:buNone/>
            </a:pPr>
            <a:r>
              <a:rPr lang="en-US" altLang="zh-TW" sz="2600" dirty="0">
                <a:solidFill>
                  <a:srgbClr val="303030"/>
                </a:solidFill>
                <a:latin typeface="Times New Roman" panose="02020603050405020304" pitchFamily="18" charset="0"/>
                <a:ea typeface="Arial"/>
                <a:cs typeface="Times New Roman" panose="02020603050405020304" pitchFamily="18" charset="0"/>
                <a:sym typeface="Arial"/>
              </a:rPr>
              <a:t>Existing concurrent work like </a:t>
            </a:r>
            <a:r>
              <a:rPr lang="en-US" altLang="zh-TW" sz="2600" dirty="0" err="1">
                <a:solidFill>
                  <a:srgbClr val="303030"/>
                </a:solidFill>
                <a:latin typeface="Times New Roman" panose="02020603050405020304" pitchFamily="18" charset="0"/>
                <a:ea typeface="Arial"/>
                <a:cs typeface="Times New Roman" panose="02020603050405020304" pitchFamily="18" charset="0"/>
                <a:sym typeface="Arial"/>
              </a:rPr>
              <a:t>MambaVC</a:t>
            </a:r>
            <a:r>
              <a:rPr lang="en-US" altLang="zh-TW" sz="2600" dirty="0">
                <a:solidFill>
                  <a:srgbClr val="303030"/>
                </a:solidFill>
                <a:latin typeface="Times New Roman" panose="02020603050405020304" pitchFamily="18" charset="0"/>
                <a:ea typeface="Arial"/>
                <a:cs typeface="Times New Roman" panose="02020603050405020304" pitchFamily="18" charset="0"/>
                <a:sym typeface="Arial"/>
              </a:rPr>
              <a:t> attempted to use SSM structures for compression, but achieved sub-optimal performance because it merely replaced foundational blocks without tailoring the design to the specific characteristics of SSMs within the compression framework. This highlighted the need for careful adaptation, which </a:t>
            </a:r>
            <a:r>
              <a:rPr lang="en-US" altLang="zh-TW" sz="2600" dirty="0" err="1">
                <a:solidFill>
                  <a:srgbClr val="303030"/>
                </a:solidFill>
                <a:latin typeface="Times New Roman" panose="02020603050405020304" pitchFamily="18" charset="0"/>
                <a:ea typeface="Arial"/>
                <a:cs typeface="Times New Roman" panose="02020603050405020304" pitchFamily="18" charset="0"/>
                <a:sym typeface="Arial"/>
              </a:rPr>
              <a:t>MambaIC</a:t>
            </a:r>
            <a:r>
              <a:rPr lang="en-US" altLang="zh-TW" sz="2600" dirty="0">
                <a:solidFill>
                  <a:srgbClr val="303030"/>
                </a:solidFill>
                <a:latin typeface="Times New Roman" panose="02020603050405020304" pitchFamily="18" charset="0"/>
                <a:ea typeface="Arial"/>
                <a:cs typeface="Times New Roman" panose="02020603050405020304" pitchFamily="18" charset="0"/>
                <a:sym typeface="Arial"/>
              </a:rPr>
              <a:t> addresses.</a:t>
            </a:r>
            <a:endParaRPr sz="2600"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51FBA34C-FED1-182C-0C5B-53333F0A60DF}"/>
              </a:ext>
            </a:extLst>
          </p:cNvPr>
          <p:cNvSpPr>
            <a:spLocks noChangeArrowheads="1"/>
          </p:cNvSpPr>
          <p:nvPr/>
        </p:nvSpPr>
        <p:spPr bwMode="auto">
          <a:xfrm>
            <a:off x="0" y="0"/>
            <a:ext cx="9144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zh-TW" sz="1000" b="0" i="0" u="none" strike="noStrike" cap="none" normalizeH="0" baseline="0">
                <a:ln>
                  <a:noFill/>
                </a:ln>
                <a:solidFill>
                  <a:srgbClr val="303030"/>
                </a:solidFill>
                <a:effectLst/>
                <a:latin typeface="Arial" panose="020B0604020202020204" pitchFamily="34" charset="0"/>
                <a:ea typeface="Google Sans Text"/>
              </a:rPr>
              <a:t>Existing concurrent work like MambaVC attempted to use SSM structures for compression, but achieved </a:t>
            </a:r>
            <a:r>
              <a:rPr kumimoji="0" lang="zh-TW" altLang="zh-TW" sz="1000" b="1" i="0" u="none" strike="noStrike" cap="none" normalizeH="0" baseline="0">
                <a:ln>
                  <a:noFill/>
                </a:ln>
                <a:solidFill>
                  <a:srgbClr val="303030"/>
                </a:solidFill>
                <a:effectLst/>
                <a:latin typeface="Arial" panose="020B0604020202020204" pitchFamily="34" charset="0"/>
                <a:ea typeface="Google Sans Text"/>
              </a:rPr>
              <a:t>sub-optimal performance</a:t>
            </a:r>
            <a:r>
              <a:rPr kumimoji="0" lang="zh-TW" altLang="zh-TW" sz="1000" b="0" i="0" u="none" strike="noStrike" cap="none" normalizeH="0" baseline="0">
                <a:ln>
                  <a:noFill/>
                </a:ln>
                <a:solidFill>
                  <a:srgbClr val="303030"/>
                </a:solidFill>
                <a:effectLst/>
                <a:latin typeface="Arial" panose="020B0604020202020204" pitchFamily="34" charset="0"/>
                <a:ea typeface="Google Sans Text"/>
              </a:rPr>
              <a:t> because it merely replaced foundational blocks without tailoring the design to the specific characteristics of SSMs within the compression framework. This highlighted the need for careful adaptation, which MambaIC addresses.</a:t>
            </a:r>
            <a:r>
              <a:rPr kumimoji="0" lang="zh-TW" altLang="zh-TW" sz="600" b="0" i="0" u="none" strike="noStrike" cap="none" normalizeH="0" baseline="0">
                <a:ln>
                  <a:noFill/>
                </a:ln>
                <a:solidFill>
                  <a:schemeClr val="tx1"/>
                </a:solidFill>
                <a:effectLst/>
                <a:latin typeface="Arial" panose="020B0604020202020204" pitchFamily="34" charset="0"/>
              </a:rPr>
              <a:t> </a:t>
            </a:r>
            <a:endParaRPr kumimoji="0" lang="zh-TW" altLang="zh-TW"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685341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9">
          <a:extLst>
            <a:ext uri="{FF2B5EF4-FFF2-40B4-BE49-F238E27FC236}">
              <a16:creationId xmlns:a16="http://schemas.microsoft.com/office/drawing/2014/main" id="{7B9D44B9-70FF-BDF9-7642-4594043CA64E}"/>
            </a:ext>
          </a:extLst>
        </p:cNvPr>
        <p:cNvGrpSpPr/>
        <p:nvPr/>
      </p:nvGrpSpPr>
      <p:grpSpPr>
        <a:xfrm>
          <a:off x="0" y="0"/>
          <a:ext cx="0" cy="0"/>
          <a:chOff x="0" y="0"/>
          <a:chExt cx="0" cy="0"/>
        </a:xfrm>
      </p:grpSpPr>
      <p:sp>
        <p:nvSpPr>
          <p:cNvPr id="140" name="Google Shape;140;p15">
            <a:extLst>
              <a:ext uri="{FF2B5EF4-FFF2-40B4-BE49-F238E27FC236}">
                <a16:creationId xmlns:a16="http://schemas.microsoft.com/office/drawing/2014/main" id="{816160C7-5133-A8A3-D4F2-B32A12CBBA88}"/>
              </a:ext>
            </a:extLst>
          </p:cNvPr>
          <p:cNvSpPr txBox="1">
            <a:spLocks noGrp="1"/>
          </p:cNvSpPr>
          <p:nvPr>
            <p:ph type="title"/>
          </p:nvPr>
        </p:nvSpPr>
        <p:spPr>
          <a:xfrm>
            <a:off x="819150" y="310450"/>
            <a:ext cx="7505700" cy="954600"/>
          </a:xfrm>
          <a:prstGeom prst="rect">
            <a:avLst/>
          </a:prstGeom>
        </p:spPr>
        <p:txBody>
          <a:bodyPr spcFirstLastPara="1" wrap="square" lIns="91425" tIns="91425" rIns="91425" bIns="91425" anchor="t" anchorCtr="0">
            <a:normAutofit/>
          </a:bodyPr>
          <a:lstStyle/>
          <a:p>
            <a:pPr lvl="0"/>
            <a:r>
              <a:rPr lang="en-US" altLang="zh-TW" b="1" dirty="0" err="1">
                <a:latin typeface="Times New Roman" panose="02020603050405020304" pitchFamily="18" charset="0"/>
                <a:cs typeface="Times New Roman" panose="02020603050405020304" pitchFamily="18" charset="0"/>
              </a:rPr>
              <a:t>MambaIC</a:t>
            </a:r>
            <a:r>
              <a:rPr lang="en-US" altLang="zh-TW" b="1" dirty="0">
                <a:latin typeface="Times New Roman" panose="02020603050405020304" pitchFamily="18" charset="0"/>
                <a:cs typeface="Times New Roman" panose="02020603050405020304" pitchFamily="18" charset="0"/>
              </a:rPr>
              <a:t> Overall Architecture</a:t>
            </a:r>
            <a:endParaRPr dirty="0">
              <a:latin typeface="Times New Roman" panose="02020603050405020304" pitchFamily="18" charset="0"/>
              <a:cs typeface="Times New Roman" panose="02020603050405020304" pitchFamily="18" charset="0"/>
            </a:endParaRPr>
          </a:p>
        </p:txBody>
      </p:sp>
      <p:sp>
        <p:nvSpPr>
          <p:cNvPr id="141" name="Google Shape;141;p15">
            <a:extLst>
              <a:ext uri="{FF2B5EF4-FFF2-40B4-BE49-F238E27FC236}">
                <a16:creationId xmlns:a16="http://schemas.microsoft.com/office/drawing/2014/main" id="{3B5079B0-BFD8-187A-1C4F-C0997B64E926}"/>
              </a:ext>
            </a:extLst>
          </p:cNvPr>
          <p:cNvSpPr txBox="1">
            <a:spLocks noGrp="1"/>
          </p:cNvSpPr>
          <p:nvPr>
            <p:ph type="body" idx="1"/>
          </p:nvPr>
        </p:nvSpPr>
        <p:spPr>
          <a:xfrm>
            <a:off x="373175" y="961250"/>
            <a:ext cx="8488800" cy="3871200"/>
          </a:xfrm>
          <a:prstGeom prst="rect">
            <a:avLst/>
          </a:prstGeom>
        </p:spPr>
        <p:txBody>
          <a:bodyPr spcFirstLastPara="1" wrap="square" lIns="91425" tIns="91425" rIns="91425" bIns="91425" anchor="t" anchorCtr="0">
            <a:noAutofit/>
          </a:bodyPr>
          <a:lstStyle/>
          <a:p>
            <a:pPr marL="0" indent="0" algn="just">
              <a:spcAft>
                <a:spcPts val="1200"/>
              </a:spcAft>
              <a:buNone/>
            </a:pPr>
            <a:r>
              <a:rPr lang="en-US" altLang="zh-TW" sz="2600" dirty="0" err="1">
                <a:solidFill>
                  <a:srgbClr val="303030"/>
                </a:solidFill>
                <a:latin typeface="Times New Roman" panose="02020603050405020304" pitchFamily="18" charset="0"/>
                <a:ea typeface="Arial"/>
                <a:cs typeface="Times New Roman" panose="02020603050405020304" pitchFamily="18" charset="0"/>
                <a:sym typeface="Arial"/>
              </a:rPr>
              <a:t>MambaIC</a:t>
            </a:r>
            <a:r>
              <a:rPr lang="en-US" altLang="zh-TW" sz="2600" dirty="0">
                <a:solidFill>
                  <a:srgbClr val="303030"/>
                </a:solidFill>
                <a:latin typeface="Times New Roman" panose="02020603050405020304" pitchFamily="18" charset="0"/>
                <a:ea typeface="Arial"/>
                <a:cs typeface="Times New Roman" panose="02020603050405020304" pitchFamily="18" charset="0"/>
                <a:sym typeface="Arial"/>
              </a:rPr>
              <a:t> is the first approach, to our knowledge, to integrate SSMs into both the nonlinear transform and the context model for high-performance LIC. The overall pipeline includes an SSM-based nonlinear transform (analyzer  ​and synthesizer g s ​ ), and a context entropy model featuring SSM blocks and window-based local attention to estimate entropy parameters (</a:t>
            </a:r>
            <a:r>
              <a:rPr lang="en-US" altLang="zh-TW" sz="2600" dirty="0" err="1">
                <a:solidFill>
                  <a:srgbClr val="303030"/>
                </a:solidFill>
                <a:latin typeface="Times New Roman" panose="02020603050405020304" pitchFamily="18" charset="0"/>
                <a:ea typeface="Arial"/>
                <a:cs typeface="Times New Roman" panose="02020603050405020304" pitchFamily="18" charset="0"/>
                <a:sym typeface="Arial"/>
              </a:rPr>
              <a:t>μ,σ</a:t>
            </a:r>
            <a:r>
              <a:rPr lang="en-US" altLang="zh-TW" sz="2600" dirty="0">
                <a:solidFill>
                  <a:srgbClr val="303030"/>
                </a:solidFill>
                <a:latin typeface="Times New Roman" panose="02020603050405020304" pitchFamily="18" charset="0"/>
                <a:ea typeface="Arial"/>
                <a:cs typeface="Times New Roman" panose="02020603050405020304" pitchFamily="18" charset="0"/>
                <a:sym typeface="Arial"/>
              </a:rPr>
              <a:t>).</a:t>
            </a:r>
            <a:endParaRPr sz="2600"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2C9041FF-6812-1A8E-60D7-A12C01AF0467}"/>
              </a:ext>
            </a:extLst>
          </p:cNvPr>
          <p:cNvSpPr>
            <a:spLocks noChangeArrowheads="1"/>
          </p:cNvSpPr>
          <p:nvPr/>
        </p:nvSpPr>
        <p:spPr bwMode="auto">
          <a:xfrm>
            <a:off x="0" y="0"/>
            <a:ext cx="9144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zh-TW" sz="1000" b="0" i="0" u="none" strike="noStrike" cap="none" normalizeH="0" baseline="0">
                <a:ln>
                  <a:noFill/>
                </a:ln>
                <a:solidFill>
                  <a:srgbClr val="303030"/>
                </a:solidFill>
                <a:effectLst/>
                <a:latin typeface="Arial" panose="020B0604020202020204" pitchFamily="34" charset="0"/>
                <a:ea typeface="Google Sans Text"/>
              </a:rPr>
              <a:t>Existing concurrent work like MambaVC attempted to use SSM structures for compression, but achieved </a:t>
            </a:r>
            <a:r>
              <a:rPr kumimoji="0" lang="zh-TW" altLang="zh-TW" sz="1000" b="1" i="0" u="none" strike="noStrike" cap="none" normalizeH="0" baseline="0">
                <a:ln>
                  <a:noFill/>
                </a:ln>
                <a:solidFill>
                  <a:srgbClr val="303030"/>
                </a:solidFill>
                <a:effectLst/>
                <a:latin typeface="Arial" panose="020B0604020202020204" pitchFamily="34" charset="0"/>
                <a:ea typeface="Google Sans Text"/>
              </a:rPr>
              <a:t>sub-optimal performance</a:t>
            </a:r>
            <a:r>
              <a:rPr kumimoji="0" lang="zh-TW" altLang="zh-TW" sz="1000" b="0" i="0" u="none" strike="noStrike" cap="none" normalizeH="0" baseline="0">
                <a:ln>
                  <a:noFill/>
                </a:ln>
                <a:solidFill>
                  <a:srgbClr val="303030"/>
                </a:solidFill>
                <a:effectLst/>
                <a:latin typeface="Arial" panose="020B0604020202020204" pitchFamily="34" charset="0"/>
                <a:ea typeface="Google Sans Text"/>
              </a:rPr>
              <a:t> because it merely replaced foundational blocks without tailoring the design to the specific characteristics of SSMs within the compression framework. This highlighted the need for careful adaptation, which MambaIC addresses.</a:t>
            </a:r>
            <a:r>
              <a:rPr kumimoji="0" lang="zh-TW" altLang="zh-TW" sz="600" b="0" i="0" u="none" strike="noStrike" cap="none" normalizeH="0" baseline="0">
                <a:ln>
                  <a:noFill/>
                </a:ln>
                <a:solidFill>
                  <a:schemeClr val="tx1"/>
                </a:solidFill>
                <a:effectLst/>
                <a:latin typeface="Arial" panose="020B0604020202020204" pitchFamily="34" charset="0"/>
              </a:rPr>
              <a:t> </a:t>
            </a:r>
            <a:endParaRPr kumimoji="0" lang="zh-TW" altLang="zh-TW"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217042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9">
          <a:extLst>
            <a:ext uri="{FF2B5EF4-FFF2-40B4-BE49-F238E27FC236}">
              <a16:creationId xmlns:a16="http://schemas.microsoft.com/office/drawing/2014/main" id="{AF8F36BE-97F9-E60C-12F6-EB4A39357BEA}"/>
            </a:ext>
          </a:extLst>
        </p:cNvPr>
        <p:cNvGrpSpPr/>
        <p:nvPr/>
      </p:nvGrpSpPr>
      <p:grpSpPr>
        <a:xfrm>
          <a:off x="0" y="0"/>
          <a:ext cx="0" cy="0"/>
          <a:chOff x="0" y="0"/>
          <a:chExt cx="0" cy="0"/>
        </a:xfrm>
      </p:grpSpPr>
      <p:sp>
        <p:nvSpPr>
          <p:cNvPr id="140" name="Google Shape;140;p15">
            <a:extLst>
              <a:ext uri="{FF2B5EF4-FFF2-40B4-BE49-F238E27FC236}">
                <a16:creationId xmlns:a16="http://schemas.microsoft.com/office/drawing/2014/main" id="{FB7CCC25-64BE-8F3D-AE1C-05DE0CDAC65F}"/>
              </a:ext>
            </a:extLst>
          </p:cNvPr>
          <p:cNvSpPr txBox="1">
            <a:spLocks noGrp="1"/>
          </p:cNvSpPr>
          <p:nvPr>
            <p:ph type="title"/>
          </p:nvPr>
        </p:nvSpPr>
        <p:spPr>
          <a:xfrm>
            <a:off x="819150" y="310450"/>
            <a:ext cx="7505700" cy="954600"/>
          </a:xfrm>
          <a:prstGeom prst="rect">
            <a:avLst/>
          </a:prstGeom>
        </p:spPr>
        <p:txBody>
          <a:bodyPr spcFirstLastPara="1" wrap="square" lIns="91425" tIns="91425" rIns="91425" bIns="91425" anchor="t" anchorCtr="0">
            <a:normAutofit/>
          </a:bodyPr>
          <a:lstStyle/>
          <a:p>
            <a:pPr lvl="0"/>
            <a:r>
              <a:rPr lang="en-US" altLang="zh-TW" b="1" dirty="0">
                <a:latin typeface="Times New Roman" panose="02020603050405020304" pitchFamily="18" charset="0"/>
                <a:cs typeface="Times New Roman" panose="02020603050405020304" pitchFamily="18" charset="0"/>
              </a:rPr>
              <a:t>The Visual State Space (VSS) Block</a:t>
            </a:r>
            <a:endParaRPr dirty="0">
              <a:latin typeface="Times New Roman" panose="02020603050405020304" pitchFamily="18" charset="0"/>
              <a:cs typeface="Times New Roman" panose="02020603050405020304" pitchFamily="18" charset="0"/>
            </a:endParaRPr>
          </a:p>
        </p:txBody>
      </p:sp>
      <p:sp>
        <p:nvSpPr>
          <p:cNvPr id="141" name="Google Shape;141;p15">
            <a:extLst>
              <a:ext uri="{FF2B5EF4-FFF2-40B4-BE49-F238E27FC236}">
                <a16:creationId xmlns:a16="http://schemas.microsoft.com/office/drawing/2014/main" id="{6539AF87-2861-BDCD-6EB6-F66AAD613A26}"/>
              </a:ext>
            </a:extLst>
          </p:cNvPr>
          <p:cNvSpPr txBox="1">
            <a:spLocks noGrp="1"/>
          </p:cNvSpPr>
          <p:nvPr>
            <p:ph type="body" idx="1"/>
          </p:nvPr>
        </p:nvSpPr>
        <p:spPr>
          <a:xfrm>
            <a:off x="373175" y="961250"/>
            <a:ext cx="8488800" cy="3871200"/>
          </a:xfrm>
          <a:prstGeom prst="rect">
            <a:avLst/>
          </a:prstGeom>
        </p:spPr>
        <p:txBody>
          <a:bodyPr spcFirstLastPara="1" wrap="square" lIns="91425" tIns="91425" rIns="91425" bIns="91425" anchor="t" anchorCtr="0">
            <a:noAutofit/>
          </a:bodyPr>
          <a:lstStyle/>
          <a:p>
            <a:pPr marL="0" indent="0" algn="just">
              <a:spcAft>
                <a:spcPts val="1200"/>
              </a:spcAft>
              <a:buNone/>
            </a:pPr>
            <a:r>
              <a:rPr lang="en-US" altLang="zh-TW" sz="2600" dirty="0">
                <a:solidFill>
                  <a:srgbClr val="303030"/>
                </a:solidFill>
                <a:latin typeface="Times New Roman" panose="02020603050405020304" pitchFamily="18" charset="0"/>
                <a:ea typeface="Arial"/>
                <a:cs typeface="Times New Roman" panose="02020603050405020304" pitchFamily="18" charset="0"/>
                <a:sym typeface="Arial"/>
              </a:rPr>
              <a:t>VSS blocks are utilized in the context model's parameter estimator. The core component is the 2D selective scan (SS2D), which scans the input along four distinct paths, applies a separate SSM block to each, and merges the results. This cross-scanning effectively integrates information to enhance global receptive fields</a:t>
            </a:r>
            <a:endParaRPr sz="2600"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D0AFF72A-8D80-EC51-43B0-CD80EF7EFE3F}"/>
              </a:ext>
            </a:extLst>
          </p:cNvPr>
          <p:cNvSpPr>
            <a:spLocks noChangeArrowheads="1"/>
          </p:cNvSpPr>
          <p:nvPr/>
        </p:nvSpPr>
        <p:spPr bwMode="auto">
          <a:xfrm>
            <a:off x="0" y="0"/>
            <a:ext cx="9144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zh-TW" sz="1000" b="0" i="0" u="none" strike="noStrike" cap="none" normalizeH="0" baseline="0">
                <a:ln>
                  <a:noFill/>
                </a:ln>
                <a:solidFill>
                  <a:srgbClr val="303030"/>
                </a:solidFill>
                <a:effectLst/>
                <a:latin typeface="Arial" panose="020B0604020202020204" pitchFamily="34" charset="0"/>
                <a:ea typeface="Google Sans Text"/>
              </a:rPr>
              <a:t>Existing concurrent work like MambaVC attempted to use SSM structures for compression, but achieved </a:t>
            </a:r>
            <a:r>
              <a:rPr kumimoji="0" lang="zh-TW" altLang="zh-TW" sz="1000" b="1" i="0" u="none" strike="noStrike" cap="none" normalizeH="0" baseline="0">
                <a:ln>
                  <a:noFill/>
                </a:ln>
                <a:solidFill>
                  <a:srgbClr val="303030"/>
                </a:solidFill>
                <a:effectLst/>
                <a:latin typeface="Arial" panose="020B0604020202020204" pitchFamily="34" charset="0"/>
                <a:ea typeface="Google Sans Text"/>
              </a:rPr>
              <a:t>sub-optimal performance</a:t>
            </a:r>
            <a:r>
              <a:rPr kumimoji="0" lang="zh-TW" altLang="zh-TW" sz="1000" b="0" i="0" u="none" strike="noStrike" cap="none" normalizeH="0" baseline="0">
                <a:ln>
                  <a:noFill/>
                </a:ln>
                <a:solidFill>
                  <a:srgbClr val="303030"/>
                </a:solidFill>
                <a:effectLst/>
                <a:latin typeface="Arial" panose="020B0604020202020204" pitchFamily="34" charset="0"/>
                <a:ea typeface="Google Sans Text"/>
              </a:rPr>
              <a:t> because it merely replaced foundational blocks without tailoring the design to the specific characteristics of SSMs within the compression framework. This highlighted the need for careful adaptation, which MambaIC addresses.</a:t>
            </a:r>
            <a:r>
              <a:rPr kumimoji="0" lang="zh-TW" altLang="zh-TW" sz="600" b="0" i="0" u="none" strike="noStrike" cap="none" normalizeH="0" baseline="0">
                <a:ln>
                  <a:noFill/>
                </a:ln>
                <a:solidFill>
                  <a:schemeClr val="tx1"/>
                </a:solidFill>
                <a:effectLst/>
                <a:latin typeface="Arial" panose="020B0604020202020204" pitchFamily="34" charset="0"/>
              </a:rPr>
              <a:t> </a:t>
            </a:r>
            <a:endParaRPr kumimoji="0" lang="zh-TW" altLang="zh-TW" sz="1800" b="0" i="0" u="none" strike="noStrike" cap="none" normalizeH="0" baseline="0">
              <a:ln>
                <a:noFill/>
              </a:ln>
              <a:solidFill>
                <a:schemeClr val="tx1"/>
              </a:solidFill>
              <a:effectLst/>
              <a:latin typeface="Arial" panose="020B0604020202020204" pitchFamily="34" charset="0"/>
            </a:endParaRPr>
          </a:p>
        </p:txBody>
      </p:sp>
      <p:sp>
        <p:nvSpPr>
          <p:cNvPr id="3" name="Rectangle 1">
            <a:extLst>
              <a:ext uri="{FF2B5EF4-FFF2-40B4-BE49-F238E27FC236}">
                <a16:creationId xmlns:a16="http://schemas.microsoft.com/office/drawing/2014/main" id="{FDCB6320-A4DA-9FCD-7FF9-206C5884EF5D}"/>
              </a:ext>
            </a:extLst>
          </p:cNvPr>
          <p:cNvSpPr>
            <a:spLocks noChangeArrowheads="1"/>
          </p:cNvSpPr>
          <p:nvPr/>
        </p:nvSpPr>
        <p:spPr bwMode="auto">
          <a:xfrm>
            <a:off x="152400" y="152400"/>
            <a:ext cx="9144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zh-TW" sz="1000" b="0" i="0" u="none" strike="noStrike" cap="none" normalizeH="0" baseline="0">
                <a:ln>
                  <a:noFill/>
                </a:ln>
                <a:solidFill>
                  <a:srgbClr val="303030"/>
                </a:solidFill>
                <a:effectLst/>
                <a:latin typeface="Arial" panose="020B0604020202020204" pitchFamily="34" charset="0"/>
                <a:ea typeface="Google Sans Text"/>
              </a:rPr>
              <a:t>VSS blocks are utilized in the context model's parameter estimator. The core component is the </a:t>
            </a:r>
            <a:r>
              <a:rPr kumimoji="0" lang="zh-TW" altLang="zh-TW" sz="1000" b="1" i="0" u="none" strike="noStrike" cap="none" normalizeH="0" baseline="0">
                <a:ln>
                  <a:noFill/>
                </a:ln>
                <a:solidFill>
                  <a:srgbClr val="303030"/>
                </a:solidFill>
                <a:effectLst/>
                <a:latin typeface="Arial" panose="020B0604020202020204" pitchFamily="34" charset="0"/>
                <a:ea typeface="Google Sans Text"/>
              </a:rPr>
              <a:t>2D selective scan (SS2D)</a:t>
            </a:r>
            <a:r>
              <a:rPr kumimoji="0" lang="zh-TW" altLang="zh-TW" sz="1000" b="0" i="0" u="none" strike="noStrike" cap="none" normalizeH="0" baseline="0">
                <a:ln>
                  <a:noFill/>
                </a:ln>
                <a:solidFill>
                  <a:srgbClr val="303030"/>
                </a:solidFill>
                <a:effectLst/>
                <a:latin typeface="Arial" panose="020B0604020202020204" pitchFamily="34" charset="0"/>
                <a:ea typeface="Google Sans Text"/>
              </a:rPr>
              <a:t>, which scans the input along four distinct paths, applies a separate SSM block to each, and merges the results. This cross-scanning effectively integrates information to enhance </a:t>
            </a:r>
            <a:r>
              <a:rPr kumimoji="0" lang="zh-TW" altLang="zh-TW" sz="1000" b="1" i="0" u="none" strike="noStrike" cap="none" normalizeH="0" baseline="0">
                <a:ln>
                  <a:noFill/>
                </a:ln>
                <a:solidFill>
                  <a:srgbClr val="303030"/>
                </a:solidFill>
                <a:effectLst/>
                <a:latin typeface="Arial" panose="020B0604020202020204" pitchFamily="34" charset="0"/>
                <a:ea typeface="Google Sans Text"/>
              </a:rPr>
              <a:t>global receptive fields</a:t>
            </a:r>
            <a:r>
              <a:rPr kumimoji="0" lang="zh-TW" altLang="zh-TW" sz="600" b="0" i="0" u="none" strike="noStrike" cap="none" normalizeH="0" baseline="0">
                <a:ln>
                  <a:noFill/>
                </a:ln>
                <a:solidFill>
                  <a:schemeClr val="tx1"/>
                </a:solidFill>
                <a:effectLst/>
                <a:latin typeface="Arial" panose="020B0604020202020204" pitchFamily="34" charset="0"/>
              </a:rPr>
              <a:t> </a:t>
            </a:r>
            <a:endParaRPr kumimoji="0" lang="zh-TW" altLang="zh-TW"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665691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9">
          <a:extLst>
            <a:ext uri="{FF2B5EF4-FFF2-40B4-BE49-F238E27FC236}">
              <a16:creationId xmlns:a16="http://schemas.microsoft.com/office/drawing/2014/main" id="{18F9A01A-5B53-FE13-152B-FB40FBB266B8}"/>
            </a:ext>
          </a:extLst>
        </p:cNvPr>
        <p:cNvGrpSpPr/>
        <p:nvPr/>
      </p:nvGrpSpPr>
      <p:grpSpPr>
        <a:xfrm>
          <a:off x="0" y="0"/>
          <a:ext cx="0" cy="0"/>
          <a:chOff x="0" y="0"/>
          <a:chExt cx="0" cy="0"/>
        </a:xfrm>
      </p:grpSpPr>
      <p:sp>
        <p:nvSpPr>
          <p:cNvPr id="140" name="Google Shape;140;p15">
            <a:extLst>
              <a:ext uri="{FF2B5EF4-FFF2-40B4-BE49-F238E27FC236}">
                <a16:creationId xmlns:a16="http://schemas.microsoft.com/office/drawing/2014/main" id="{0D581CED-EC5A-2F86-75A3-5E05FC85DF84}"/>
              </a:ext>
            </a:extLst>
          </p:cNvPr>
          <p:cNvSpPr txBox="1">
            <a:spLocks noGrp="1"/>
          </p:cNvSpPr>
          <p:nvPr>
            <p:ph type="title"/>
          </p:nvPr>
        </p:nvSpPr>
        <p:spPr>
          <a:xfrm>
            <a:off x="819150" y="310450"/>
            <a:ext cx="7505700" cy="954600"/>
          </a:xfrm>
          <a:prstGeom prst="rect">
            <a:avLst/>
          </a:prstGeom>
        </p:spPr>
        <p:txBody>
          <a:bodyPr spcFirstLastPara="1" wrap="square" lIns="91425" tIns="91425" rIns="91425" bIns="91425" anchor="t" anchorCtr="0">
            <a:normAutofit/>
          </a:bodyPr>
          <a:lstStyle/>
          <a:p>
            <a:pPr lvl="0"/>
            <a:r>
              <a:rPr lang="en-US" altLang="zh-TW" b="1" dirty="0">
                <a:latin typeface="Times New Roman" panose="02020603050405020304" pitchFamily="18" charset="0"/>
                <a:cs typeface="Times New Roman" panose="02020603050405020304" pitchFamily="18" charset="0"/>
              </a:rPr>
              <a:t>Hybrid Channel-Spatial Context Modeling</a:t>
            </a:r>
            <a:endParaRPr dirty="0">
              <a:latin typeface="Times New Roman" panose="02020603050405020304" pitchFamily="18" charset="0"/>
              <a:cs typeface="Times New Roman" panose="02020603050405020304" pitchFamily="18" charset="0"/>
            </a:endParaRPr>
          </a:p>
        </p:txBody>
      </p:sp>
      <p:sp>
        <p:nvSpPr>
          <p:cNvPr id="141" name="Google Shape;141;p15">
            <a:extLst>
              <a:ext uri="{FF2B5EF4-FFF2-40B4-BE49-F238E27FC236}">
                <a16:creationId xmlns:a16="http://schemas.microsoft.com/office/drawing/2014/main" id="{E479897F-4928-277F-DAB5-1B0DA6FACCF7}"/>
              </a:ext>
            </a:extLst>
          </p:cNvPr>
          <p:cNvSpPr txBox="1">
            <a:spLocks noGrp="1"/>
          </p:cNvSpPr>
          <p:nvPr>
            <p:ph type="body" idx="1"/>
          </p:nvPr>
        </p:nvSpPr>
        <p:spPr>
          <a:xfrm>
            <a:off x="373175" y="961250"/>
            <a:ext cx="8488800" cy="3871200"/>
          </a:xfrm>
          <a:prstGeom prst="rect">
            <a:avLst/>
          </a:prstGeom>
        </p:spPr>
        <p:txBody>
          <a:bodyPr spcFirstLastPara="1" wrap="square" lIns="91425" tIns="91425" rIns="91425" bIns="91425" anchor="t" anchorCtr="0">
            <a:noAutofit/>
          </a:bodyPr>
          <a:lstStyle/>
          <a:p>
            <a:pPr marL="0" indent="0" algn="just">
              <a:spcAft>
                <a:spcPts val="1200"/>
              </a:spcAft>
              <a:buNone/>
            </a:pPr>
            <a:r>
              <a:rPr lang="en-US" altLang="zh-TW" sz="2600" dirty="0" err="1">
                <a:solidFill>
                  <a:srgbClr val="303030"/>
                </a:solidFill>
                <a:latin typeface="Times New Roman" panose="02020603050405020304" pitchFamily="18" charset="0"/>
                <a:ea typeface="Arial"/>
                <a:cs typeface="Times New Roman" panose="02020603050405020304" pitchFamily="18" charset="0"/>
                <a:sym typeface="Arial"/>
              </a:rPr>
              <a:t>MambaIC</a:t>
            </a:r>
            <a:r>
              <a:rPr lang="en-US" altLang="zh-TW" sz="2600" dirty="0">
                <a:solidFill>
                  <a:srgbClr val="303030"/>
                </a:solidFill>
                <a:latin typeface="Times New Roman" panose="02020603050405020304" pitchFamily="18" charset="0"/>
                <a:ea typeface="Arial"/>
                <a:cs typeface="Times New Roman" panose="02020603050405020304" pitchFamily="18" charset="0"/>
                <a:sym typeface="Arial"/>
              </a:rPr>
              <a:t> integrates the VSS block into both the channel context model (</a:t>
            </a:r>
            <a:r>
              <a:rPr lang="el-GR" altLang="zh-TW" sz="2600" dirty="0">
                <a:solidFill>
                  <a:srgbClr val="303030"/>
                </a:solidFill>
                <a:latin typeface="Times New Roman" panose="02020603050405020304" pitchFamily="18" charset="0"/>
                <a:ea typeface="Arial"/>
                <a:cs typeface="Times New Roman" panose="02020603050405020304" pitchFamily="18" charset="0"/>
                <a:sym typeface="Arial"/>
              </a:rPr>
              <a:t>Ψ </a:t>
            </a:r>
            <a:r>
              <a:rPr lang="en-US" altLang="zh-TW" sz="2600" dirty="0">
                <a:solidFill>
                  <a:srgbClr val="303030"/>
                </a:solidFill>
                <a:latin typeface="Times New Roman" panose="02020603050405020304" pitchFamily="18" charset="0"/>
                <a:ea typeface="Arial"/>
                <a:cs typeface="Times New Roman" panose="02020603050405020304" pitchFamily="18" charset="0"/>
                <a:sym typeface="Arial"/>
              </a:rPr>
              <a:t>k ​ ) and the spatial context model (</a:t>
            </a:r>
            <a:r>
              <a:rPr lang="el-GR" altLang="zh-TW" sz="2600" dirty="0">
                <a:solidFill>
                  <a:srgbClr val="303030"/>
                </a:solidFill>
                <a:latin typeface="Times New Roman" panose="02020603050405020304" pitchFamily="18" charset="0"/>
                <a:ea typeface="Arial"/>
                <a:cs typeface="Times New Roman" panose="02020603050405020304" pitchFamily="18" charset="0"/>
                <a:sym typeface="Arial"/>
              </a:rPr>
              <a:t>Φ). </a:t>
            </a:r>
            <a:r>
              <a:rPr lang="en-US" altLang="zh-TW" sz="2600" dirty="0">
                <a:solidFill>
                  <a:srgbClr val="303030"/>
                </a:solidFill>
                <a:latin typeface="Times New Roman" panose="02020603050405020304" pitchFamily="18" charset="0"/>
                <a:ea typeface="Arial"/>
                <a:cs typeface="Times New Roman" panose="02020603050405020304" pitchFamily="18" charset="0"/>
                <a:sym typeface="Arial"/>
              </a:rPr>
              <a:t>This hybrid auto-regressive approach uses previously decoded channel chunks (y &lt;k ​ ) and spatially related symbols (y &lt;</a:t>
            </a:r>
            <a:r>
              <a:rPr lang="en-US" altLang="zh-TW" sz="2600" dirty="0" err="1">
                <a:solidFill>
                  <a:srgbClr val="303030"/>
                </a:solidFill>
                <a:latin typeface="Times New Roman" panose="02020603050405020304" pitchFamily="18" charset="0"/>
                <a:ea typeface="Arial"/>
                <a:cs typeface="Times New Roman" panose="02020603050405020304" pitchFamily="18" charset="0"/>
                <a:sym typeface="Arial"/>
              </a:rPr>
              <a:t>i</a:t>
            </a:r>
            <a:r>
              <a:rPr lang="en-US" altLang="zh-TW" sz="2600" dirty="0">
                <a:solidFill>
                  <a:srgbClr val="303030"/>
                </a:solidFill>
                <a:latin typeface="Times New Roman" panose="02020603050405020304" pitchFamily="18" charset="0"/>
                <a:ea typeface="Arial"/>
                <a:cs typeface="Times New Roman" panose="02020603050405020304" pitchFamily="18" charset="0"/>
                <a:sym typeface="Arial"/>
              </a:rPr>
              <a:t> k ​ ) to enrich the side information used for estimating entropy parameters</a:t>
            </a:r>
            <a:endParaRPr sz="2600"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8D95A1EE-07A1-BA4E-8755-0B7A15E65578}"/>
              </a:ext>
            </a:extLst>
          </p:cNvPr>
          <p:cNvSpPr>
            <a:spLocks noChangeArrowheads="1"/>
          </p:cNvSpPr>
          <p:nvPr/>
        </p:nvSpPr>
        <p:spPr bwMode="auto">
          <a:xfrm>
            <a:off x="0" y="0"/>
            <a:ext cx="9144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zh-TW" sz="1000" b="0" i="0" u="none" strike="noStrike" cap="none" normalizeH="0" baseline="0">
                <a:ln>
                  <a:noFill/>
                </a:ln>
                <a:solidFill>
                  <a:srgbClr val="303030"/>
                </a:solidFill>
                <a:effectLst/>
                <a:latin typeface="Arial" panose="020B0604020202020204" pitchFamily="34" charset="0"/>
                <a:ea typeface="Google Sans Text"/>
              </a:rPr>
              <a:t>Existing concurrent work like MambaVC attempted to use SSM structures for compression, but achieved </a:t>
            </a:r>
            <a:r>
              <a:rPr kumimoji="0" lang="zh-TW" altLang="zh-TW" sz="1000" b="1" i="0" u="none" strike="noStrike" cap="none" normalizeH="0" baseline="0">
                <a:ln>
                  <a:noFill/>
                </a:ln>
                <a:solidFill>
                  <a:srgbClr val="303030"/>
                </a:solidFill>
                <a:effectLst/>
                <a:latin typeface="Arial" panose="020B0604020202020204" pitchFamily="34" charset="0"/>
                <a:ea typeface="Google Sans Text"/>
              </a:rPr>
              <a:t>sub-optimal performance</a:t>
            </a:r>
            <a:r>
              <a:rPr kumimoji="0" lang="zh-TW" altLang="zh-TW" sz="1000" b="0" i="0" u="none" strike="noStrike" cap="none" normalizeH="0" baseline="0">
                <a:ln>
                  <a:noFill/>
                </a:ln>
                <a:solidFill>
                  <a:srgbClr val="303030"/>
                </a:solidFill>
                <a:effectLst/>
                <a:latin typeface="Arial" panose="020B0604020202020204" pitchFamily="34" charset="0"/>
                <a:ea typeface="Google Sans Text"/>
              </a:rPr>
              <a:t> because it merely replaced foundational blocks without tailoring the design to the specific characteristics of SSMs within the compression framework. This highlighted the need for careful adaptation, which MambaIC addresses.</a:t>
            </a:r>
            <a:r>
              <a:rPr kumimoji="0" lang="zh-TW" altLang="zh-TW" sz="600" b="0" i="0" u="none" strike="noStrike" cap="none" normalizeH="0" baseline="0">
                <a:ln>
                  <a:noFill/>
                </a:ln>
                <a:solidFill>
                  <a:schemeClr val="tx1"/>
                </a:solidFill>
                <a:effectLst/>
                <a:latin typeface="Arial" panose="020B0604020202020204" pitchFamily="34" charset="0"/>
              </a:rPr>
              <a:t> </a:t>
            </a:r>
            <a:endParaRPr kumimoji="0" lang="zh-TW" altLang="zh-TW"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706645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9">
          <a:extLst>
            <a:ext uri="{FF2B5EF4-FFF2-40B4-BE49-F238E27FC236}">
              <a16:creationId xmlns:a16="http://schemas.microsoft.com/office/drawing/2014/main" id="{43A4D06C-8993-985A-5A10-1E2751737820}"/>
            </a:ext>
          </a:extLst>
        </p:cNvPr>
        <p:cNvGrpSpPr/>
        <p:nvPr/>
      </p:nvGrpSpPr>
      <p:grpSpPr>
        <a:xfrm>
          <a:off x="0" y="0"/>
          <a:ext cx="0" cy="0"/>
          <a:chOff x="0" y="0"/>
          <a:chExt cx="0" cy="0"/>
        </a:xfrm>
      </p:grpSpPr>
      <p:sp>
        <p:nvSpPr>
          <p:cNvPr id="140" name="Google Shape;140;p15">
            <a:extLst>
              <a:ext uri="{FF2B5EF4-FFF2-40B4-BE49-F238E27FC236}">
                <a16:creationId xmlns:a16="http://schemas.microsoft.com/office/drawing/2014/main" id="{920C0AA1-CEA4-0A0A-2BEF-8D5621D0D6B1}"/>
              </a:ext>
            </a:extLst>
          </p:cNvPr>
          <p:cNvSpPr txBox="1">
            <a:spLocks noGrp="1"/>
          </p:cNvSpPr>
          <p:nvPr>
            <p:ph type="title"/>
          </p:nvPr>
        </p:nvSpPr>
        <p:spPr>
          <a:xfrm>
            <a:off x="819150" y="310450"/>
            <a:ext cx="7505700" cy="954600"/>
          </a:xfrm>
          <a:prstGeom prst="rect">
            <a:avLst/>
          </a:prstGeom>
        </p:spPr>
        <p:txBody>
          <a:bodyPr spcFirstLastPara="1" wrap="square" lIns="91425" tIns="91425" rIns="91425" bIns="91425" anchor="t" anchorCtr="0">
            <a:normAutofit/>
          </a:bodyPr>
          <a:lstStyle/>
          <a:p>
            <a:pPr lvl="0"/>
            <a:r>
              <a:rPr lang="en-US" altLang="zh-TW" b="1" dirty="0">
                <a:latin typeface="Times New Roman" panose="02020603050405020304" pitchFamily="18" charset="0"/>
                <a:cs typeface="Times New Roman" panose="02020603050405020304" pitchFamily="18" charset="0"/>
              </a:rPr>
              <a:t>Window-Based Local Attention (WLA)</a:t>
            </a:r>
            <a:endParaRPr dirty="0">
              <a:latin typeface="Times New Roman" panose="02020603050405020304" pitchFamily="18" charset="0"/>
              <a:cs typeface="Times New Roman" panose="02020603050405020304" pitchFamily="18" charset="0"/>
            </a:endParaRPr>
          </a:p>
        </p:txBody>
      </p:sp>
      <p:sp>
        <p:nvSpPr>
          <p:cNvPr id="141" name="Google Shape;141;p15">
            <a:extLst>
              <a:ext uri="{FF2B5EF4-FFF2-40B4-BE49-F238E27FC236}">
                <a16:creationId xmlns:a16="http://schemas.microsoft.com/office/drawing/2014/main" id="{A7DF35C6-FED3-21DD-C24C-CC71EC5E70B6}"/>
              </a:ext>
            </a:extLst>
          </p:cNvPr>
          <p:cNvSpPr txBox="1">
            <a:spLocks noGrp="1"/>
          </p:cNvSpPr>
          <p:nvPr>
            <p:ph type="body" idx="1"/>
          </p:nvPr>
        </p:nvSpPr>
        <p:spPr>
          <a:xfrm>
            <a:off x="373175" y="961250"/>
            <a:ext cx="8488800" cy="3871200"/>
          </a:xfrm>
          <a:prstGeom prst="rect">
            <a:avLst/>
          </a:prstGeom>
        </p:spPr>
        <p:txBody>
          <a:bodyPr spcFirstLastPara="1" wrap="square" lIns="91425" tIns="91425" rIns="91425" bIns="91425" anchor="t" anchorCtr="0">
            <a:noAutofit/>
          </a:bodyPr>
          <a:lstStyle/>
          <a:p>
            <a:pPr marL="0" indent="0" algn="just">
              <a:spcAft>
                <a:spcPts val="1200"/>
              </a:spcAft>
              <a:buNone/>
            </a:pPr>
            <a:r>
              <a:rPr lang="en-US" altLang="zh-TW" sz="2600" dirty="0">
                <a:solidFill>
                  <a:srgbClr val="303030"/>
                </a:solidFill>
                <a:latin typeface="Times New Roman" panose="02020603050405020304" pitchFamily="18" charset="0"/>
                <a:ea typeface="Arial"/>
                <a:cs typeface="Times New Roman" panose="02020603050405020304" pitchFamily="18" charset="0"/>
                <a:sym typeface="Arial"/>
              </a:rPr>
              <a:t>Functionality: Following latent parameter aggregation, WLA is incorporated into the context entropy modeling. Purpose: While VSS blocks capture global context, WLA enhances local relation description and helps mitigate remaining spatial redundancy within the windows. Efficiency: It improves efficiency by performing attention on fewer patches, using window partitioning and reversal</a:t>
            </a:r>
            <a:endParaRPr sz="2600"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1874FF47-6894-98C8-9354-FC9B985BB6C9}"/>
              </a:ext>
            </a:extLst>
          </p:cNvPr>
          <p:cNvSpPr>
            <a:spLocks noChangeArrowheads="1"/>
          </p:cNvSpPr>
          <p:nvPr/>
        </p:nvSpPr>
        <p:spPr bwMode="auto">
          <a:xfrm>
            <a:off x="0" y="0"/>
            <a:ext cx="9144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zh-TW" sz="1000" b="0" i="0" u="none" strike="noStrike" cap="none" normalizeH="0" baseline="0">
                <a:ln>
                  <a:noFill/>
                </a:ln>
                <a:solidFill>
                  <a:srgbClr val="303030"/>
                </a:solidFill>
                <a:effectLst/>
                <a:latin typeface="Arial" panose="020B0604020202020204" pitchFamily="34" charset="0"/>
                <a:ea typeface="Google Sans Text"/>
              </a:rPr>
              <a:t>Existing concurrent work like MambaVC attempted to use SSM structures for compression, but achieved </a:t>
            </a:r>
            <a:r>
              <a:rPr kumimoji="0" lang="zh-TW" altLang="zh-TW" sz="1000" b="1" i="0" u="none" strike="noStrike" cap="none" normalizeH="0" baseline="0">
                <a:ln>
                  <a:noFill/>
                </a:ln>
                <a:solidFill>
                  <a:srgbClr val="303030"/>
                </a:solidFill>
                <a:effectLst/>
                <a:latin typeface="Arial" panose="020B0604020202020204" pitchFamily="34" charset="0"/>
                <a:ea typeface="Google Sans Text"/>
              </a:rPr>
              <a:t>sub-optimal performance</a:t>
            </a:r>
            <a:r>
              <a:rPr kumimoji="0" lang="zh-TW" altLang="zh-TW" sz="1000" b="0" i="0" u="none" strike="noStrike" cap="none" normalizeH="0" baseline="0">
                <a:ln>
                  <a:noFill/>
                </a:ln>
                <a:solidFill>
                  <a:srgbClr val="303030"/>
                </a:solidFill>
                <a:effectLst/>
                <a:latin typeface="Arial" panose="020B0604020202020204" pitchFamily="34" charset="0"/>
                <a:ea typeface="Google Sans Text"/>
              </a:rPr>
              <a:t> because it merely replaced foundational blocks without tailoring the design to the specific characteristics of SSMs within the compression framework. This highlighted the need for careful adaptation, which MambaIC addresses.</a:t>
            </a:r>
            <a:r>
              <a:rPr kumimoji="0" lang="zh-TW" altLang="zh-TW" sz="600" b="0" i="0" u="none" strike="noStrike" cap="none" normalizeH="0" baseline="0">
                <a:ln>
                  <a:noFill/>
                </a:ln>
                <a:solidFill>
                  <a:schemeClr val="tx1"/>
                </a:solidFill>
                <a:effectLst/>
                <a:latin typeface="Arial" panose="020B0604020202020204" pitchFamily="34" charset="0"/>
              </a:rPr>
              <a:t> </a:t>
            </a:r>
            <a:endParaRPr kumimoji="0" lang="zh-TW" altLang="zh-TW"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254926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9">
          <a:extLst>
            <a:ext uri="{FF2B5EF4-FFF2-40B4-BE49-F238E27FC236}">
              <a16:creationId xmlns:a16="http://schemas.microsoft.com/office/drawing/2014/main" id="{2D581E2C-2D82-7078-DAF0-89E6164F06D0}"/>
            </a:ext>
          </a:extLst>
        </p:cNvPr>
        <p:cNvGrpSpPr/>
        <p:nvPr/>
      </p:nvGrpSpPr>
      <p:grpSpPr>
        <a:xfrm>
          <a:off x="0" y="0"/>
          <a:ext cx="0" cy="0"/>
          <a:chOff x="0" y="0"/>
          <a:chExt cx="0" cy="0"/>
        </a:xfrm>
      </p:grpSpPr>
      <p:sp>
        <p:nvSpPr>
          <p:cNvPr id="140" name="Google Shape;140;p15">
            <a:extLst>
              <a:ext uri="{FF2B5EF4-FFF2-40B4-BE49-F238E27FC236}">
                <a16:creationId xmlns:a16="http://schemas.microsoft.com/office/drawing/2014/main" id="{8C196534-9417-7D41-7585-6003F87BE882}"/>
              </a:ext>
            </a:extLst>
          </p:cNvPr>
          <p:cNvSpPr txBox="1">
            <a:spLocks noGrp="1"/>
          </p:cNvSpPr>
          <p:nvPr>
            <p:ph type="title"/>
          </p:nvPr>
        </p:nvSpPr>
        <p:spPr>
          <a:xfrm>
            <a:off x="819150" y="310450"/>
            <a:ext cx="7505700" cy="954600"/>
          </a:xfrm>
          <a:prstGeom prst="rect">
            <a:avLst/>
          </a:prstGeom>
        </p:spPr>
        <p:txBody>
          <a:bodyPr spcFirstLastPara="1" wrap="square" lIns="91425" tIns="91425" rIns="91425" bIns="91425" anchor="t" anchorCtr="0">
            <a:normAutofit/>
          </a:bodyPr>
          <a:lstStyle/>
          <a:p>
            <a:pPr lvl="0"/>
            <a:r>
              <a:rPr lang="en-US" altLang="zh-TW" b="1" dirty="0">
                <a:latin typeface="Times New Roman" panose="02020603050405020304" pitchFamily="18" charset="0"/>
                <a:cs typeface="Times New Roman" panose="02020603050405020304" pitchFamily="18" charset="0"/>
              </a:rPr>
              <a:t>Performance on Standard Datasets (Kodak)</a:t>
            </a:r>
            <a:endParaRPr dirty="0">
              <a:latin typeface="Times New Roman" panose="02020603050405020304" pitchFamily="18" charset="0"/>
              <a:cs typeface="Times New Roman" panose="02020603050405020304" pitchFamily="18" charset="0"/>
            </a:endParaRPr>
          </a:p>
        </p:txBody>
      </p:sp>
      <p:sp>
        <p:nvSpPr>
          <p:cNvPr id="141" name="Google Shape;141;p15">
            <a:extLst>
              <a:ext uri="{FF2B5EF4-FFF2-40B4-BE49-F238E27FC236}">
                <a16:creationId xmlns:a16="http://schemas.microsoft.com/office/drawing/2014/main" id="{57AB0D25-500C-6891-6C3B-4517D9963688}"/>
              </a:ext>
            </a:extLst>
          </p:cNvPr>
          <p:cNvSpPr txBox="1">
            <a:spLocks noGrp="1"/>
          </p:cNvSpPr>
          <p:nvPr>
            <p:ph type="body" idx="1"/>
          </p:nvPr>
        </p:nvSpPr>
        <p:spPr>
          <a:xfrm>
            <a:off x="373175" y="961250"/>
            <a:ext cx="8488800" cy="3871200"/>
          </a:xfrm>
          <a:prstGeom prst="rect">
            <a:avLst/>
          </a:prstGeom>
        </p:spPr>
        <p:txBody>
          <a:bodyPr spcFirstLastPara="1" wrap="square" lIns="91425" tIns="91425" rIns="91425" bIns="91425" anchor="t" anchorCtr="0">
            <a:noAutofit/>
          </a:bodyPr>
          <a:lstStyle/>
          <a:p>
            <a:pPr marL="0" indent="0" algn="just">
              <a:spcAft>
                <a:spcPts val="1200"/>
              </a:spcAft>
              <a:buNone/>
            </a:pPr>
            <a:r>
              <a:rPr lang="en-US" altLang="zh-TW" sz="2600" dirty="0" err="1">
                <a:solidFill>
                  <a:srgbClr val="303030"/>
                </a:solidFill>
                <a:latin typeface="Times New Roman" panose="02020603050405020304" pitchFamily="18" charset="0"/>
                <a:ea typeface="Arial"/>
                <a:cs typeface="Times New Roman" panose="02020603050405020304" pitchFamily="18" charset="0"/>
                <a:sym typeface="Arial"/>
              </a:rPr>
              <a:t>MambaIC</a:t>
            </a:r>
            <a:r>
              <a:rPr lang="en-US" altLang="zh-TW" sz="2600" dirty="0">
                <a:solidFill>
                  <a:srgbClr val="303030"/>
                </a:solidFill>
                <a:latin typeface="Times New Roman" panose="02020603050405020304" pitchFamily="18" charset="0"/>
                <a:ea typeface="Arial"/>
                <a:cs typeface="Times New Roman" panose="02020603050405020304" pitchFamily="18" charset="0"/>
                <a:sym typeface="Arial"/>
              </a:rPr>
              <a:t> consistently achieves the best rate-distortion trade-off in terms of both PSNR and MS-SSIM compared to numerous learned and conventional methods (e.g., BPG, VTM). Compared to the SSM-based </a:t>
            </a:r>
            <a:r>
              <a:rPr lang="en-US" altLang="zh-TW" sz="2600" dirty="0" err="1">
                <a:solidFill>
                  <a:srgbClr val="303030"/>
                </a:solidFill>
                <a:latin typeface="Times New Roman" panose="02020603050405020304" pitchFamily="18" charset="0"/>
                <a:ea typeface="Arial"/>
                <a:cs typeface="Times New Roman" panose="02020603050405020304" pitchFamily="18" charset="0"/>
                <a:sym typeface="Arial"/>
              </a:rPr>
              <a:t>MambaVC</a:t>
            </a:r>
            <a:r>
              <a:rPr lang="en-US" altLang="zh-TW" sz="2600" dirty="0">
                <a:solidFill>
                  <a:srgbClr val="303030"/>
                </a:solidFill>
                <a:latin typeface="Times New Roman" panose="02020603050405020304" pitchFamily="18" charset="0"/>
                <a:ea typeface="Arial"/>
                <a:cs typeface="Times New Roman" panose="02020603050405020304" pitchFamily="18" charset="0"/>
                <a:sym typeface="Arial"/>
              </a:rPr>
              <a:t>, </a:t>
            </a:r>
            <a:r>
              <a:rPr lang="en-US" altLang="zh-TW" sz="2600" dirty="0" err="1">
                <a:solidFill>
                  <a:srgbClr val="303030"/>
                </a:solidFill>
                <a:latin typeface="Times New Roman" panose="02020603050405020304" pitchFamily="18" charset="0"/>
                <a:ea typeface="Arial"/>
                <a:cs typeface="Times New Roman" panose="02020603050405020304" pitchFamily="18" charset="0"/>
                <a:sym typeface="Arial"/>
              </a:rPr>
              <a:t>MambaIC</a:t>
            </a:r>
            <a:r>
              <a:rPr lang="en-US" altLang="zh-TW" sz="2600" dirty="0">
                <a:solidFill>
                  <a:srgbClr val="303030"/>
                </a:solidFill>
                <a:latin typeface="Times New Roman" panose="02020603050405020304" pitchFamily="18" charset="0"/>
                <a:ea typeface="Arial"/>
                <a:cs typeface="Times New Roman" panose="02020603050405020304" pitchFamily="18" charset="0"/>
                <a:sym typeface="Arial"/>
              </a:rPr>
              <a:t> shows obvious improvements due to its tailored design.</a:t>
            </a:r>
            <a:endParaRPr sz="2600"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3F1416F5-DE99-334A-F1AD-36776FB546EE}"/>
              </a:ext>
            </a:extLst>
          </p:cNvPr>
          <p:cNvSpPr>
            <a:spLocks noChangeArrowheads="1"/>
          </p:cNvSpPr>
          <p:nvPr/>
        </p:nvSpPr>
        <p:spPr bwMode="auto">
          <a:xfrm>
            <a:off x="0" y="0"/>
            <a:ext cx="9144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zh-TW" sz="1000" b="0" i="0" u="none" strike="noStrike" cap="none" normalizeH="0" baseline="0">
                <a:ln>
                  <a:noFill/>
                </a:ln>
                <a:solidFill>
                  <a:srgbClr val="303030"/>
                </a:solidFill>
                <a:effectLst/>
                <a:latin typeface="Arial" panose="020B0604020202020204" pitchFamily="34" charset="0"/>
                <a:ea typeface="Google Sans Text"/>
              </a:rPr>
              <a:t>Existing concurrent work like MambaVC attempted to use SSM structures for compression, but achieved </a:t>
            </a:r>
            <a:r>
              <a:rPr kumimoji="0" lang="zh-TW" altLang="zh-TW" sz="1000" b="1" i="0" u="none" strike="noStrike" cap="none" normalizeH="0" baseline="0">
                <a:ln>
                  <a:noFill/>
                </a:ln>
                <a:solidFill>
                  <a:srgbClr val="303030"/>
                </a:solidFill>
                <a:effectLst/>
                <a:latin typeface="Arial" panose="020B0604020202020204" pitchFamily="34" charset="0"/>
                <a:ea typeface="Google Sans Text"/>
              </a:rPr>
              <a:t>sub-optimal performance</a:t>
            </a:r>
            <a:r>
              <a:rPr kumimoji="0" lang="zh-TW" altLang="zh-TW" sz="1000" b="0" i="0" u="none" strike="noStrike" cap="none" normalizeH="0" baseline="0">
                <a:ln>
                  <a:noFill/>
                </a:ln>
                <a:solidFill>
                  <a:srgbClr val="303030"/>
                </a:solidFill>
                <a:effectLst/>
                <a:latin typeface="Arial" panose="020B0604020202020204" pitchFamily="34" charset="0"/>
                <a:ea typeface="Google Sans Text"/>
              </a:rPr>
              <a:t> because it merely replaced foundational blocks without tailoring the design to the specific characteristics of SSMs within the compression framework. This highlighted the need for careful adaptation, which MambaIC addresses.</a:t>
            </a:r>
            <a:r>
              <a:rPr kumimoji="0" lang="zh-TW" altLang="zh-TW" sz="600" b="0" i="0" u="none" strike="noStrike" cap="none" normalizeH="0" baseline="0">
                <a:ln>
                  <a:noFill/>
                </a:ln>
                <a:solidFill>
                  <a:schemeClr val="tx1"/>
                </a:solidFill>
                <a:effectLst/>
                <a:latin typeface="Arial" panose="020B0604020202020204" pitchFamily="34" charset="0"/>
              </a:rPr>
              <a:t> </a:t>
            </a:r>
            <a:endParaRPr kumimoji="0" lang="zh-TW" altLang="zh-TW"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584798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9">
          <a:extLst>
            <a:ext uri="{FF2B5EF4-FFF2-40B4-BE49-F238E27FC236}">
              <a16:creationId xmlns:a16="http://schemas.microsoft.com/office/drawing/2014/main" id="{EF53FDBC-C52D-C57A-680A-E17F123BB6D3}"/>
            </a:ext>
          </a:extLst>
        </p:cNvPr>
        <p:cNvGrpSpPr/>
        <p:nvPr/>
      </p:nvGrpSpPr>
      <p:grpSpPr>
        <a:xfrm>
          <a:off x="0" y="0"/>
          <a:ext cx="0" cy="0"/>
          <a:chOff x="0" y="0"/>
          <a:chExt cx="0" cy="0"/>
        </a:xfrm>
      </p:grpSpPr>
      <p:sp>
        <p:nvSpPr>
          <p:cNvPr id="140" name="Google Shape;140;p15">
            <a:extLst>
              <a:ext uri="{FF2B5EF4-FFF2-40B4-BE49-F238E27FC236}">
                <a16:creationId xmlns:a16="http://schemas.microsoft.com/office/drawing/2014/main" id="{16FB7590-9440-DBC4-5BCC-715EB591A1E8}"/>
              </a:ext>
            </a:extLst>
          </p:cNvPr>
          <p:cNvSpPr txBox="1">
            <a:spLocks noGrp="1"/>
          </p:cNvSpPr>
          <p:nvPr>
            <p:ph type="title"/>
          </p:nvPr>
        </p:nvSpPr>
        <p:spPr>
          <a:xfrm>
            <a:off x="819150" y="310450"/>
            <a:ext cx="7505700" cy="954600"/>
          </a:xfrm>
          <a:prstGeom prst="rect">
            <a:avLst/>
          </a:prstGeom>
        </p:spPr>
        <p:txBody>
          <a:bodyPr spcFirstLastPara="1" wrap="square" lIns="91425" tIns="91425" rIns="91425" bIns="91425" anchor="t" anchorCtr="0">
            <a:normAutofit/>
          </a:bodyPr>
          <a:lstStyle/>
          <a:p>
            <a:pPr lvl="0"/>
            <a:r>
              <a:rPr lang="en-US" altLang="zh-TW" b="1" dirty="0">
                <a:latin typeface="Times New Roman" panose="02020603050405020304" pitchFamily="18" charset="0"/>
                <a:cs typeface="Times New Roman" panose="02020603050405020304" pitchFamily="18" charset="0"/>
              </a:rPr>
              <a:t>Superior Scaling to High Resolution</a:t>
            </a:r>
            <a:endParaRPr dirty="0">
              <a:latin typeface="Times New Roman" panose="02020603050405020304" pitchFamily="18" charset="0"/>
              <a:cs typeface="Times New Roman" panose="02020603050405020304" pitchFamily="18" charset="0"/>
            </a:endParaRPr>
          </a:p>
        </p:txBody>
      </p:sp>
      <p:sp>
        <p:nvSpPr>
          <p:cNvPr id="141" name="Google Shape;141;p15">
            <a:extLst>
              <a:ext uri="{FF2B5EF4-FFF2-40B4-BE49-F238E27FC236}">
                <a16:creationId xmlns:a16="http://schemas.microsoft.com/office/drawing/2014/main" id="{68BE1F00-B4D5-E578-50D4-60EC7C8A089B}"/>
              </a:ext>
            </a:extLst>
          </p:cNvPr>
          <p:cNvSpPr txBox="1">
            <a:spLocks noGrp="1"/>
          </p:cNvSpPr>
          <p:nvPr>
            <p:ph type="body" idx="1"/>
          </p:nvPr>
        </p:nvSpPr>
        <p:spPr>
          <a:xfrm>
            <a:off x="373175" y="961250"/>
            <a:ext cx="8488800" cy="3871200"/>
          </a:xfrm>
          <a:prstGeom prst="rect">
            <a:avLst/>
          </a:prstGeom>
        </p:spPr>
        <p:txBody>
          <a:bodyPr spcFirstLastPara="1" wrap="square" lIns="91425" tIns="91425" rIns="91425" bIns="91425" anchor="t" anchorCtr="0">
            <a:noAutofit/>
          </a:bodyPr>
          <a:lstStyle/>
          <a:p>
            <a:pPr marL="0" indent="0" algn="just">
              <a:spcAft>
                <a:spcPts val="1200"/>
              </a:spcAft>
              <a:buNone/>
            </a:pPr>
            <a:r>
              <a:rPr lang="en-US" altLang="zh-TW" sz="2600" dirty="0">
                <a:solidFill>
                  <a:srgbClr val="303030"/>
                </a:solidFill>
                <a:latin typeface="Times New Roman" panose="02020603050405020304" pitchFamily="18" charset="0"/>
                <a:ea typeface="Arial"/>
                <a:cs typeface="Times New Roman" panose="02020603050405020304" pitchFamily="18" charset="0"/>
                <a:sym typeface="Arial"/>
              </a:rPr>
              <a:t>When tested on higher resolution datasets like </a:t>
            </a:r>
            <a:r>
              <a:rPr lang="en-US" altLang="zh-TW" sz="2600" dirty="0" err="1">
                <a:solidFill>
                  <a:srgbClr val="303030"/>
                </a:solidFill>
                <a:latin typeface="Times New Roman" panose="02020603050405020304" pitchFamily="18" charset="0"/>
                <a:ea typeface="Arial"/>
                <a:cs typeface="Times New Roman" panose="02020603050405020304" pitchFamily="18" charset="0"/>
                <a:sym typeface="Arial"/>
              </a:rPr>
              <a:t>Tecnick</a:t>
            </a:r>
            <a:r>
              <a:rPr lang="en-US" altLang="zh-TW" sz="2600" dirty="0">
                <a:solidFill>
                  <a:srgbClr val="303030"/>
                </a:solidFill>
                <a:latin typeface="Times New Roman" panose="02020603050405020304" pitchFamily="18" charset="0"/>
                <a:ea typeface="Arial"/>
                <a:cs typeface="Times New Roman" panose="02020603050405020304" pitchFamily="18" charset="0"/>
                <a:sym typeface="Arial"/>
              </a:rPr>
              <a:t> (1200x1200) and CLIC Professional Valid (2048x1440), </a:t>
            </a:r>
            <a:r>
              <a:rPr lang="en-US" altLang="zh-TW" sz="2600" dirty="0" err="1">
                <a:solidFill>
                  <a:srgbClr val="303030"/>
                </a:solidFill>
                <a:latin typeface="Times New Roman" panose="02020603050405020304" pitchFamily="18" charset="0"/>
                <a:ea typeface="Arial"/>
                <a:cs typeface="Times New Roman" panose="02020603050405020304" pitchFamily="18" charset="0"/>
                <a:sym typeface="Arial"/>
              </a:rPr>
              <a:t>MambaIC</a:t>
            </a:r>
            <a:r>
              <a:rPr lang="en-US" altLang="zh-TW" sz="2600" dirty="0">
                <a:solidFill>
                  <a:srgbClr val="303030"/>
                </a:solidFill>
                <a:latin typeface="Times New Roman" panose="02020603050405020304" pitchFamily="18" charset="0"/>
                <a:ea typeface="Arial"/>
                <a:cs typeface="Times New Roman" panose="02020603050405020304" pitchFamily="18" charset="0"/>
                <a:sym typeface="Arial"/>
              </a:rPr>
              <a:t> maintains stability and achieves competitive results. Crucially, the performance improvement (BD-Rate reduction) becomes more substantial when the image resolution scales up, confirming the effectiveness and stability of SSMs in high-definition contexts.</a:t>
            </a:r>
            <a:endParaRPr sz="2600"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83877A5C-07D6-47DF-9097-F28B26E5F0BD}"/>
              </a:ext>
            </a:extLst>
          </p:cNvPr>
          <p:cNvSpPr>
            <a:spLocks noChangeArrowheads="1"/>
          </p:cNvSpPr>
          <p:nvPr/>
        </p:nvSpPr>
        <p:spPr bwMode="auto">
          <a:xfrm>
            <a:off x="0" y="0"/>
            <a:ext cx="9144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zh-TW" sz="1000" b="0" i="0" u="none" strike="noStrike" cap="none" normalizeH="0" baseline="0">
                <a:ln>
                  <a:noFill/>
                </a:ln>
                <a:solidFill>
                  <a:srgbClr val="303030"/>
                </a:solidFill>
                <a:effectLst/>
                <a:latin typeface="Arial" panose="020B0604020202020204" pitchFamily="34" charset="0"/>
                <a:ea typeface="Google Sans Text"/>
              </a:rPr>
              <a:t>Existing concurrent work like MambaVC attempted to use SSM structures for compression, but achieved </a:t>
            </a:r>
            <a:r>
              <a:rPr kumimoji="0" lang="zh-TW" altLang="zh-TW" sz="1000" b="1" i="0" u="none" strike="noStrike" cap="none" normalizeH="0" baseline="0">
                <a:ln>
                  <a:noFill/>
                </a:ln>
                <a:solidFill>
                  <a:srgbClr val="303030"/>
                </a:solidFill>
                <a:effectLst/>
                <a:latin typeface="Arial" panose="020B0604020202020204" pitchFamily="34" charset="0"/>
                <a:ea typeface="Google Sans Text"/>
              </a:rPr>
              <a:t>sub-optimal performance</a:t>
            </a:r>
            <a:r>
              <a:rPr kumimoji="0" lang="zh-TW" altLang="zh-TW" sz="1000" b="0" i="0" u="none" strike="noStrike" cap="none" normalizeH="0" baseline="0">
                <a:ln>
                  <a:noFill/>
                </a:ln>
                <a:solidFill>
                  <a:srgbClr val="303030"/>
                </a:solidFill>
                <a:effectLst/>
                <a:latin typeface="Arial" panose="020B0604020202020204" pitchFamily="34" charset="0"/>
                <a:ea typeface="Google Sans Text"/>
              </a:rPr>
              <a:t> because it merely replaced foundational blocks without tailoring the design to the specific characteristics of SSMs within the compression framework. This highlighted the need for careful adaptation, which MambaIC addresses.</a:t>
            </a:r>
            <a:r>
              <a:rPr kumimoji="0" lang="zh-TW" altLang="zh-TW" sz="600" b="0" i="0" u="none" strike="noStrike" cap="none" normalizeH="0" baseline="0">
                <a:ln>
                  <a:noFill/>
                </a:ln>
                <a:solidFill>
                  <a:schemeClr val="tx1"/>
                </a:solidFill>
                <a:effectLst/>
                <a:latin typeface="Arial" panose="020B0604020202020204" pitchFamily="34" charset="0"/>
              </a:rPr>
              <a:t> </a:t>
            </a:r>
            <a:endParaRPr kumimoji="0" lang="zh-TW" altLang="zh-TW"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292250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9">
          <a:extLst>
            <a:ext uri="{FF2B5EF4-FFF2-40B4-BE49-F238E27FC236}">
              <a16:creationId xmlns:a16="http://schemas.microsoft.com/office/drawing/2014/main" id="{34BCC1BF-1279-91FC-8E86-531E27031941}"/>
            </a:ext>
          </a:extLst>
        </p:cNvPr>
        <p:cNvGrpSpPr/>
        <p:nvPr/>
      </p:nvGrpSpPr>
      <p:grpSpPr>
        <a:xfrm>
          <a:off x="0" y="0"/>
          <a:ext cx="0" cy="0"/>
          <a:chOff x="0" y="0"/>
          <a:chExt cx="0" cy="0"/>
        </a:xfrm>
      </p:grpSpPr>
      <p:sp>
        <p:nvSpPr>
          <p:cNvPr id="140" name="Google Shape;140;p15">
            <a:extLst>
              <a:ext uri="{FF2B5EF4-FFF2-40B4-BE49-F238E27FC236}">
                <a16:creationId xmlns:a16="http://schemas.microsoft.com/office/drawing/2014/main" id="{9874E6A3-4F99-45E3-7B7E-000E1D3A68C3}"/>
              </a:ext>
            </a:extLst>
          </p:cNvPr>
          <p:cNvSpPr txBox="1">
            <a:spLocks noGrp="1"/>
          </p:cNvSpPr>
          <p:nvPr>
            <p:ph type="title"/>
          </p:nvPr>
        </p:nvSpPr>
        <p:spPr>
          <a:xfrm>
            <a:off x="819150" y="310450"/>
            <a:ext cx="7505700" cy="954600"/>
          </a:xfrm>
          <a:prstGeom prst="rect">
            <a:avLst/>
          </a:prstGeom>
        </p:spPr>
        <p:txBody>
          <a:bodyPr spcFirstLastPara="1" wrap="square" lIns="91425" tIns="91425" rIns="91425" bIns="91425" anchor="t" anchorCtr="0">
            <a:normAutofit/>
          </a:bodyPr>
          <a:lstStyle/>
          <a:p>
            <a:pPr lvl="0"/>
            <a:r>
              <a:rPr lang="en-US" altLang="zh-TW" b="1" dirty="0">
                <a:latin typeface="Times New Roman" panose="02020603050405020304" pitchFamily="18" charset="0"/>
                <a:cs typeface="Times New Roman" panose="02020603050405020304" pitchFamily="18" charset="0"/>
              </a:rPr>
              <a:t>Quantitative BD-Rate Comparison</a:t>
            </a:r>
            <a:endParaRPr dirty="0">
              <a:latin typeface="Times New Roman" panose="02020603050405020304" pitchFamily="18" charset="0"/>
              <a:cs typeface="Times New Roman" panose="02020603050405020304" pitchFamily="18" charset="0"/>
            </a:endParaRPr>
          </a:p>
        </p:txBody>
      </p:sp>
      <p:sp>
        <p:nvSpPr>
          <p:cNvPr id="141" name="Google Shape;141;p15">
            <a:extLst>
              <a:ext uri="{FF2B5EF4-FFF2-40B4-BE49-F238E27FC236}">
                <a16:creationId xmlns:a16="http://schemas.microsoft.com/office/drawing/2014/main" id="{3D753685-E7B5-93C5-8003-2CB0655E47B0}"/>
              </a:ext>
            </a:extLst>
          </p:cNvPr>
          <p:cNvSpPr txBox="1">
            <a:spLocks noGrp="1"/>
          </p:cNvSpPr>
          <p:nvPr>
            <p:ph type="body" idx="1"/>
          </p:nvPr>
        </p:nvSpPr>
        <p:spPr>
          <a:xfrm>
            <a:off x="373175" y="961250"/>
            <a:ext cx="8488800" cy="3871200"/>
          </a:xfrm>
          <a:prstGeom prst="rect">
            <a:avLst/>
          </a:prstGeom>
        </p:spPr>
        <p:txBody>
          <a:bodyPr spcFirstLastPara="1" wrap="square" lIns="91425" tIns="91425" rIns="91425" bIns="91425" anchor="t" anchorCtr="0">
            <a:noAutofit/>
          </a:bodyPr>
          <a:lstStyle/>
          <a:p>
            <a:pPr marL="0" indent="0" algn="just">
              <a:spcAft>
                <a:spcPts val="1200"/>
              </a:spcAft>
              <a:buNone/>
            </a:pPr>
            <a:r>
              <a:rPr lang="en-US" altLang="zh-TW" sz="2600" dirty="0" err="1">
                <a:solidFill>
                  <a:srgbClr val="303030"/>
                </a:solidFill>
                <a:latin typeface="Times New Roman" panose="02020603050405020304" pitchFamily="18" charset="0"/>
                <a:ea typeface="Arial"/>
                <a:cs typeface="Times New Roman" panose="02020603050405020304" pitchFamily="18" charset="0"/>
                <a:sym typeface="Arial"/>
              </a:rPr>
              <a:t>MambaIC</a:t>
            </a:r>
            <a:r>
              <a:rPr lang="en-US" altLang="zh-TW" sz="2600" dirty="0">
                <a:solidFill>
                  <a:srgbClr val="303030"/>
                </a:solidFill>
                <a:latin typeface="Times New Roman" panose="02020603050405020304" pitchFamily="18" charset="0"/>
                <a:ea typeface="Arial"/>
                <a:cs typeface="Times New Roman" panose="02020603050405020304" pitchFamily="18" charset="0"/>
                <a:sym typeface="Arial"/>
              </a:rPr>
              <a:t> achieves an impressive -12.52% BD-Rate over the conventional VVC standard (using PSNR as the metric on Kodak). This significantly surpasses ELIC (-3.95%) and </a:t>
            </a:r>
            <a:r>
              <a:rPr lang="en-US" altLang="zh-TW" sz="2600" dirty="0" err="1">
                <a:solidFill>
                  <a:srgbClr val="303030"/>
                </a:solidFill>
                <a:latin typeface="Times New Roman" panose="02020603050405020304" pitchFamily="18" charset="0"/>
                <a:ea typeface="Arial"/>
                <a:cs typeface="Times New Roman" panose="02020603050405020304" pitchFamily="18" charset="0"/>
                <a:sym typeface="Arial"/>
              </a:rPr>
              <a:t>MambaVC</a:t>
            </a:r>
            <a:r>
              <a:rPr lang="en-US" altLang="zh-TW" sz="2600" dirty="0">
                <a:solidFill>
                  <a:srgbClr val="303030"/>
                </a:solidFill>
                <a:latin typeface="Times New Roman" panose="02020603050405020304" pitchFamily="18" charset="0"/>
                <a:ea typeface="Arial"/>
                <a:cs typeface="Times New Roman" panose="02020603050405020304" pitchFamily="18" charset="0"/>
                <a:sym typeface="Arial"/>
              </a:rPr>
              <a:t> (-7.31%), confirming the strength of the proposed approach.</a:t>
            </a:r>
            <a:endParaRPr sz="2600"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3B1ECDF9-68CB-AF26-C457-6DB60546FFC5}"/>
              </a:ext>
            </a:extLst>
          </p:cNvPr>
          <p:cNvSpPr>
            <a:spLocks noChangeArrowheads="1"/>
          </p:cNvSpPr>
          <p:nvPr/>
        </p:nvSpPr>
        <p:spPr bwMode="auto">
          <a:xfrm>
            <a:off x="0" y="0"/>
            <a:ext cx="9144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zh-TW" sz="1000" b="0" i="0" u="none" strike="noStrike" cap="none" normalizeH="0" baseline="0">
                <a:ln>
                  <a:noFill/>
                </a:ln>
                <a:solidFill>
                  <a:srgbClr val="303030"/>
                </a:solidFill>
                <a:effectLst/>
                <a:latin typeface="Arial" panose="020B0604020202020204" pitchFamily="34" charset="0"/>
                <a:ea typeface="Google Sans Text"/>
              </a:rPr>
              <a:t>Existing concurrent work like MambaVC attempted to use SSM structures for compression, but achieved </a:t>
            </a:r>
            <a:r>
              <a:rPr kumimoji="0" lang="zh-TW" altLang="zh-TW" sz="1000" b="1" i="0" u="none" strike="noStrike" cap="none" normalizeH="0" baseline="0">
                <a:ln>
                  <a:noFill/>
                </a:ln>
                <a:solidFill>
                  <a:srgbClr val="303030"/>
                </a:solidFill>
                <a:effectLst/>
                <a:latin typeface="Arial" panose="020B0604020202020204" pitchFamily="34" charset="0"/>
                <a:ea typeface="Google Sans Text"/>
              </a:rPr>
              <a:t>sub-optimal performance</a:t>
            </a:r>
            <a:r>
              <a:rPr kumimoji="0" lang="zh-TW" altLang="zh-TW" sz="1000" b="0" i="0" u="none" strike="noStrike" cap="none" normalizeH="0" baseline="0">
                <a:ln>
                  <a:noFill/>
                </a:ln>
                <a:solidFill>
                  <a:srgbClr val="303030"/>
                </a:solidFill>
                <a:effectLst/>
                <a:latin typeface="Arial" panose="020B0604020202020204" pitchFamily="34" charset="0"/>
                <a:ea typeface="Google Sans Text"/>
              </a:rPr>
              <a:t> because it merely replaced foundational blocks without tailoring the design to the specific characteristics of SSMs within the compression framework. This highlighted the need for careful adaptation, which MambaIC addresses.</a:t>
            </a:r>
            <a:r>
              <a:rPr kumimoji="0" lang="zh-TW" altLang="zh-TW" sz="600" b="0" i="0" u="none" strike="noStrike" cap="none" normalizeH="0" baseline="0">
                <a:ln>
                  <a:noFill/>
                </a:ln>
                <a:solidFill>
                  <a:schemeClr val="tx1"/>
                </a:solidFill>
                <a:effectLst/>
                <a:latin typeface="Arial" panose="020B0604020202020204" pitchFamily="34" charset="0"/>
              </a:rPr>
              <a:t> </a:t>
            </a:r>
            <a:endParaRPr kumimoji="0" lang="zh-TW" altLang="zh-TW"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100275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9">
          <a:extLst>
            <a:ext uri="{FF2B5EF4-FFF2-40B4-BE49-F238E27FC236}">
              <a16:creationId xmlns:a16="http://schemas.microsoft.com/office/drawing/2014/main" id="{F6CB51E7-D678-2303-C858-52827258E11C}"/>
            </a:ext>
          </a:extLst>
        </p:cNvPr>
        <p:cNvGrpSpPr/>
        <p:nvPr/>
      </p:nvGrpSpPr>
      <p:grpSpPr>
        <a:xfrm>
          <a:off x="0" y="0"/>
          <a:ext cx="0" cy="0"/>
          <a:chOff x="0" y="0"/>
          <a:chExt cx="0" cy="0"/>
        </a:xfrm>
      </p:grpSpPr>
      <p:sp>
        <p:nvSpPr>
          <p:cNvPr id="140" name="Google Shape;140;p15">
            <a:extLst>
              <a:ext uri="{FF2B5EF4-FFF2-40B4-BE49-F238E27FC236}">
                <a16:creationId xmlns:a16="http://schemas.microsoft.com/office/drawing/2014/main" id="{EE5AD902-2047-F0B2-4728-5F813EC37406}"/>
              </a:ext>
            </a:extLst>
          </p:cNvPr>
          <p:cNvSpPr txBox="1">
            <a:spLocks noGrp="1"/>
          </p:cNvSpPr>
          <p:nvPr>
            <p:ph type="title"/>
          </p:nvPr>
        </p:nvSpPr>
        <p:spPr>
          <a:xfrm>
            <a:off x="819150" y="310450"/>
            <a:ext cx="7505700" cy="954600"/>
          </a:xfrm>
          <a:prstGeom prst="rect">
            <a:avLst/>
          </a:prstGeom>
        </p:spPr>
        <p:txBody>
          <a:bodyPr spcFirstLastPara="1" wrap="square" lIns="91425" tIns="91425" rIns="91425" bIns="91425" anchor="t" anchorCtr="0">
            <a:normAutofit/>
          </a:bodyPr>
          <a:lstStyle/>
          <a:p>
            <a:pPr lvl="0"/>
            <a:r>
              <a:rPr lang="en-US" altLang="zh-TW" b="1" dirty="0">
                <a:latin typeface="Times New Roman" panose="02020603050405020304" pitchFamily="18" charset="0"/>
                <a:cs typeface="Times New Roman" panose="02020603050405020304" pitchFamily="18" charset="0"/>
              </a:rPr>
              <a:t>Inference Efficiency (Decoding Speed)</a:t>
            </a:r>
            <a:endParaRPr dirty="0">
              <a:latin typeface="Times New Roman" panose="02020603050405020304" pitchFamily="18" charset="0"/>
              <a:cs typeface="Times New Roman" panose="02020603050405020304" pitchFamily="18" charset="0"/>
            </a:endParaRPr>
          </a:p>
        </p:txBody>
      </p:sp>
      <p:sp>
        <p:nvSpPr>
          <p:cNvPr id="141" name="Google Shape;141;p15">
            <a:extLst>
              <a:ext uri="{FF2B5EF4-FFF2-40B4-BE49-F238E27FC236}">
                <a16:creationId xmlns:a16="http://schemas.microsoft.com/office/drawing/2014/main" id="{A4EA256C-CA3F-5661-5D8A-91124E02F5D3}"/>
              </a:ext>
            </a:extLst>
          </p:cNvPr>
          <p:cNvSpPr txBox="1">
            <a:spLocks noGrp="1"/>
          </p:cNvSpPr>
          <p:nvPr>
            <p:ph type="body" idx="1"/>
          </p:nvPr>
        </p:nvSpPr>
        <p:spPr>
          <a:xfrm>
            <a:off x="373175" y="961250"/>
            <a:ext cx="8488800" cy="3871200"/>
          </a:xfrm>
          <a:prstGeom prst="rect">
            <a:avLst/>
          </a:prstGeom>
        </p:spPr>
        <p:txBody>
          <a:bodyPr spcFirstLastPara="1" wrap="square" lIns="91425" tIns="91425" rIns="91425" bIns="91425" anchor="t" anchorCtr="0">
            <a:noAutofit/>
          </a:bodyPr>
          <a:lstStyle/>
          <a:p>
            <a:pPr marL="0" indent="0" algn="just">
              <a:spcAft>
                <a:spcPts val="1200"/>
              </a:spcAft>
              <a:buNone/>
            </a:pPr>
            <a:r>
              <a:rPr lang="en-US" altLang="zh-TW" sz="2600" dirty="0">
                <a:solidFill>
                  <a:srgbClr val="303030"/>
                </a:solidFill>
                <a:latin typeface="Times New Roman" panose="02020603050405020304" pitchFamily="18" charset="0"/>
                <a:ea typeface="Arial"/>
                <a:cs typeface="Times New Roman" panose="02020603050405020304" pitchFamily="18" charset="0"/>
                <a:sym typeface="Arial"/>
              </a:rPr>
              <a:t>Efficiency is key for real-time transmission. </a:t>
            </a:r>
            <a:r>
              <a:rPr lang="en-US" altLang="zh-TW" sz="2600" dirty="0" err="1">
                <a:solidFill>
                  <a:srgbClr val="303030"/>
                </a:solidFill>
                <a:latin typeface="Times New Roman" panose="02020603050405020304" pitchFamily="18" charset="0"/>
                <a:ea typeface="Arial"/>
                <a:cs typeface="Times New Roman" panose="02020603050405020304" pitchFamily="18" charset="0"/>
                <a:sym typeface="Arial"/>
              </a:rPr>
              <a:t>MambaIC</a:t>
            </a:r>
            <a:r>
              <a:rPr lang="en-US" altLang="zh-TW" sz="2600" dirty="0">
                <a:solidFill>
                  <a:srgbClr val="303030"/>
                </a:solidFill>
                <a:latin typeface="Times New Roman" panose="02020603050405020304" pitchFamily="18" charset="0"/>
                <a:ea typeface="Arial"/>
                <a:cs typeface="Times New Roman" panose="02020603050405020304" pitchFamily="18" charset="0"/>
                <a:sym typeface="Arial"/>
              </a:rPr>
              <a:t> achieves lower decoding latency (39.42 </a:t>
            </a:r>
            <a:r>
              <a:rPr lang="en-US" altLang="zh-TW" sz="2600" dirty="0" err="1">
                <a:solidFill>
                  <a:srgbClr val="303030"/>
                </a:solidFill>
                <a:latin typeface="Times New Roman" panose="02020603050405020304" pitchFamily="18" charset="0"/>
                <a:ea typeface="Arial"/>
                <a:cs typeface="Times New Roman" panose="02020603050405020304" pitchFamily="18" charset="0"/>
                <a:sym typeface="Arial"/>
              </a:rPr>
              <a:t>ms</a:t>
            </a:r>
            <a:r>
              <a:rPr lang="en-US" altLang="zh-TW" sz="2600" dirty="0">
                <a:solidFill>
                  <a:srgbClr val="303030"/>
                </a:solidFill>
                <a:latin typeface="Times New Roman" panose="02020603050405020304" pitchFamily="18" charset="0"/>
                <a:ea typeface="Arial"/>
                <a:cs typeface="Times New Roman" panose="02020603050405020304" pitchFamily="18" charset="0"/>
                <a:sym typeface="Arial"/>
              </a:rPr>
              <a:t>) than competitors like ELIC (45.34 </a:t>
            </a:r>
            <a:r>
              <a:rPr lang="en-US" altLang="zh-TW" sz="2600" dirty="0" err="1">
                <a:solidFill>
                  <a:srgbClr val="303030"/>
                </a:solidFill>
                <a:latin typeface="Times New Roman" panose="02020603050405020304" pitchFamily="18" charset="0"/>
                <a:ea typeface="Arial"/>
                <a:cs typeface="Times New Roman" panose="02020603050405020304" pitchFamily="18" charset="0"/>
                <a:sym typeface="Arial"/>
              </a:rPr>
              <a:t>ms</a:t>
            </a:r>
            <a:r>
              <a:rPr lang="en-US" altLang="zh-TW" sz="2600" dirty="0">
                <a:solidFill>
                  <a:srgbClr val="303030"/>
                </a:solidFill>
                <a:latin typeface="Times New Roman" panose="02020603050405020304" pitchFamily="18" charset="0"/>
                <a:ea typeface="Arial"/>
                <a:cs typeface="Times New Roman" panose="02020603050405020304" pitchFamily="18" charset="0"/>
                <a:sym typeface="Arial"/>
              </a:rPr>
              <a:t>) and mixed Transformer-CNN architectures (91.44 </a:t>
            </a:r>
            <a:r>
              <a:rPr lang="en-US" altLang="zh-TW" sz="2600" dirty="0" err="1">
                <a:solidFill>
                  <a:srgbClr val="303030"/>
                </a:solidFill>
                <a:latin typeface="Times New Roman" panose="02020603050405020304" pitchFamily="18" charset="0"/>
                <a:ea typeface="Arial"/>
                <a:cs typeface="Times New Roman" panose="02020603050405020304" pitchFamily="18" charset="0"/>
                <a:sym typeface="Arial"/>
              </a:rPr>
              <a:t>ms</a:t>
            </a:r>
            <a:r>
              <a:rPr lang="en-US" altLang="zh-TW" sz="2600" dirty="0">
                <a:solidFill>
                  <a:srgbClr val="303030"/>
                </a:solidFill>
                <a:latin typeface="Times New Roman" panose="02020603050405020304" pitchFamily="18" charset="0"/>
                <a:ea typeface="Arial"/>
                <a:cs typeface="Times New Roman" panose="02020603050405020304" pitchFamily="18" charset="0"/>
                <a:sym typeface="Arial"/>
              </a:rPr>
              <a:t>). </a:t>
            </a:r>
            <a:r>
              <a:rPr lang="en-US" altLang="zh-TW" sz="2600" dirty="0" err="1">
                <a:solidFill>
                  <a:srgbClr val="303030"/>
                </a:solidFill>
                <a:latin typeface="Times New Roman" panose="02020603050405020304" pitchFamily="18" charset="0"/>
                <a:ea typeface="Arial"/>
                <a:cs typeface="Times New Roman" panose="02020603050405020304" pitchFamily="18" charset="0"/>
                <a:sym typeface="Arial"/>
              </a:rPr>
              <a:t>MambaIC</a:t>
            </a:r>
            <a:r>
              <a:rPr lang="en-US" altLang="zh-TW" sz="2600" dirty="0">
                <a:solidFill>
                  <a:srgbClr val="303030"/>
                </a:solidFill>
                <a:latin typeface="Times New Roman" panose="02020603050405020304" pitchFamily="18" charset="0"/>
                <a:ea typeface="Arial"/>
                <a:cs typeface="Times New Roman" panose="02020603050405020304" pitchFamily="18" charset="0"/>
                <a:sym typeface="Arial"/>
              </a:rPr>
              <a:t> achieves a higher BD-Rate while using only about 30% of the decoding time of mixed Transformer-CNN architectures.</a:t>
            </a:r>
            <a:endParaRPr sz="2600"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5F133BBA-1421-964D-ABC5-FAD1D6105097}"/>
              </a:ext>
            </a:extLst>
          </p:cNvPr>
          <p:cNvSpPr>
            <a:spLocks noChangeArrowheads="1"/>
          </p:cNvSpPr>
          <p:nvPr/>
        </p:nvSpPr>
        <p:spPr bwMode="auto">
          <a:xfrm>
            <a:off x="0" y="0"/>
            <a:ext cx="9144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zh-TW" sz="1000" b="0" i="0" u="none" strike="noStrike" cap="none" normalizeH="0" baseline="0">
                <a:ln>
                  <a:noFill/>
                </a:ln>
                <a:solidFill>
                  <a:srgbClr val="303030"/>
                </a:solidFill>
                <a:effectLst/>
                <a:latin typeface="Arial" panose="020B0604020202020204" pitchFamily="34" charset="0"/>
                <a:ea typeface="Google Sans Text"/>
              </a:rPr>
              <a:t>Existing concurrent work like MambaVC attempted to use SSM structures for compression, but achieved </a:t>
            </a:r>
            <a:r>
              <a:rPr kumimoji="0" lang="zh-TW" altLang="zh-TW" sz="1000" b="1" i="0" u="none" strike="noStrike" cap="none" normalizeH="0" baseline="0">
                <a:ln>
                  <a:noFill/>
                </a:ln>
                <a:solidFill>
                  <a:srgbClr val="303030"/>
                </a:solidFill>
                <a:effectLst/>
                <a:latin typeface="Arial" panose="020B0604020202020204" pitchFamily="34" charset="0"/>
                <a:ea typeface="Google Sans Text"/>
              </a:rPr>
              <a:t>sub-optimal performance</a:t>
            </a:r>
            <a:r>
              <a:rPr kumimoji="0" lang="zh-TW" altLang="zh-TW" sz="1000" b="0" i="0" u="none" strike="noStrike" cap="none" normalizeH="0" baseline="0">
                <a:ln>
                  <a:noFill/>
                </a:ln>
                <a:solidFill>
                  <a:srgbClr val="303030"/>
                </a:solidFill>
                <a:effectLst/>
                <a:latin typeface="Arial" panose="020B0604020202020204" pitchFamily="34" charset="0"/>
                <a:ea typeface="Google Sans Text"/>
              </a:rPr>
              <a:t> because it merely replaced foundational blocks without tailoring the design to the specific characteristics of SSMs within the compression framework. This highlighted the need for careful adaptation, which MambaIC addresses.</a:t>
            </a:r>
            <a:r>
              <a:rPr kumimoji="0" lang="zh-TW" altLang="zh-TW" sz="600" b="0" i="0" u="none" strike="noStrike" cap="none" normalizeH="0" baseline="0">
                <a:ln>
                  <a:noFill/>
                </a:ln>
                <a:solidFill>
                  <a:schemeClr val="tx1"/>
                </a:solidFill>
                <a:effectLst/>
                <a:latin typeface="Arial" panose="020B0604020202020204" pitchFamily="34" charset="0"/>
              </a:rPr>
              <a:t> </a:t>
            </a:r>
            <a:endParaRPr kumimoji="0" lang="zh-TW" altLang="zh-TW"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521191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9">
          <a:extLst>
            <a:ext uri="{FF2B5EF4-FFF2-40B4-BE49-F238E27FC236}">
              <a16:creationId xmlns:a16="http://schemas.microsoft.com/office/drawing/2014/main" id="{7520FF29-3DDC-04B0-D1DC-9A6AA7A7AB55}"/>
            </a:ext>
          </a:extLst>
        </p:cNvPr>
        <p:cNvGrpSpPr/>
        <p:nvPr/>
      </p:nvGrpSpPr>
      <p:grpSpPr>
        <a:xfrm>
          <a:off x="0" y="0"/>
          <a:ext cx="0" cy="0"/>
          <a:chOff x="0" y="0"/>
          <a:chExt cx="0" cy="0"/>
        </a:xfrm>
      </p:grpSpPr>
      <p:sp>
        <p:nvSpPr>
          <p:cNvPr id="140" name="Google Shape;140;p15">
            <a:extLst>
              <a:ext uri="{FF2B5EF4-FFF2-40B4-BE49-F238E27FC236}">
                <a16:creationId xmlns:a16="http://schemas.microsoft.com/office/drawing/2014/main" id="{5B66B071-FE95-DF33-51DC-839D43DEC0EB}"/>
              </a:ext>
            </a:extLst>
          </p:cNvPr>
          <p:cNvSpPr txBox="1">
            <a:spLocks noGrp="1"/>
          </p:cNvSpPr>
          <p:nvPr>
            <p:ph type="title"/>
          </p:nvPr>
        </p:nvSpPr>
        <p:spPr>
          <a:xfrm>
            <a:off x="819150" y="310450"/>
            <a:ext cx="7505700" cy="954600"/>
          </a:xfrm>
          <a:prstGeom prst="rect">
            <a:avLst/>
          </a:prstGeom>
        </p:spPr>
        <p:txBody>
          <a:bodyPr spcFirstLastPara="1" wrap="square" lIns="91425" tIns="91425" rIns="91425" bIns="91425" anchor="t" anchorCtr="0">
            <a:normAutofit/>
          </a:bodyPr>
          <a:lstStyle/>
          <a:p>
            <a:pPr lvl="0"/>
            <a:r>
              <a:rPr lang="en-US" altLang="zh-TW" b="1" dirty="0">
                <a:latin typeface="Times New Roman" panose="02020603050405020304" pitchFamily="18" charset="0"/>
                <a:cs typeface="Times New Roman" panose="02020603050405020304" pitchFamily="18" charset="0"/>
              </a:rPr>
              <a:t>Ablation Study I: Component Necessity</a:t>
            </a:r>
            <a:endParaRPr dirty="0">
              <a:latin typeface="Times New Roman" panose="02020603050405020304" pitchFamily="18" charset="0"/>
              <a:cs typeface="Times New Roman" panose="02020603050405020304" pitchFamily="18" charset="0"/>
            </a:endParaRPr>
          </a:p>
        </p:txBody>
      </p:sp>
      <p:sp>
        <p:nvSpPr>
          <p:cNvPr id="141" name="Google Shape;141;p15">
            <a:extLst>
              <a:ext uri="{FF2B5EF4-FFF2-40B4-BE49-F238E27FC236}">
                <a16:creationId xmlns:a16="http://schemas.microsoft.com/office/drawing/2014/main" id="{2E43DC22-A35F-861B-07C2-AD0FEDDF3D3A}"/>
              </a:ext>
            </a:extLst>
          </p:cNvPr>
          <p:cNvSpPr txBox="1">
            <a:spLocks noGrp="1"/>
          </p:cNvSpPr>
          <p:nvPr>
            <p:ph type="body" idx="1"/>
          </p:nvPr>
        </p:nvSpPr>
        <p:spPr>
          <a:xfrm>
            <a:off x="373175" y="961250"/>
            <a:ext cx="8488800" cy="3871200"/>
          </a:xfrm>
          <a:prstGeom prst="rect">
            <a:avLst/>
          </a:prstGeom>
        </p:spPr>
        <p:txBody>
          <a:bodyPr spcFirstLastPara="1" wrap="square" lIns="91425" tIns="91425" rIns="91425" bIns="91425" anchor="t" anchorCtr="0">
            <a:noAutofit/>
          </a:bodyPr>
          <a:lstStyle/>
          <a:p>
            <a:pPr marL="0" indent="0" algn="just">
              <a:spcAft>
                <a:spcPts val="1200"/>
              </a:spcAft>
              <a:buNone/>
            </a:pPr>
            <a:r>
              <a:rPr lang="en-US" altLang="zh-TW" sz="2600" dirty="0">
                <a:solidFill>
                  <a:srgbClr val="303030"/>
                </a:solidFill>
                <a:latin typeface="Times New Roman" panose="02020603050405020304" pitchFamily="18" charset="0"/>
                <a:ea typeface="Arial"/>
                <a:cs typeface="Times New Roman" panose="02020603050405020304" pitchFamily="18" charset="0"/>
                <a:sym typeface="Arial"/>
              </a:rPr>
              <a:t>Ablation studies show that every designed component—Channel Auto-regressive Modeling (CAM), spatial context model, and Window-based Local Attention (WLA)—is critical for high performance. Removing WLA alone causes a performance drop from -12.52% to -9.17% BD-Rate.</a:t>
            </a:r>
            <a:endParaRPr sz="2600"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3222889E-1372-2EF9-7B21-5B6E4710D41C}"/>
              </a:ext>
            </a:extLst>
          </p:cNvPr>
          <p:cNvSpPr>
            <a:spLocks noChangeArrowheads="1"/>
          </p:cNvSpPr>
          <p:nvPr/>
        </p:nvSpPr>
        <p:spPr bwMode="auto">
          <a:xfrm>
            <a:off x="0" y="0"/>
            <a:ext cx="9144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zh-TW" sz="1000" b="0" i="0" u="none" strike="noStrike" cap="none" normalizeH="0" baseline="0">
                <a:ln>
                  <a:noFill/>
                </a:ln>
                <a:solidFill>
                  <a:srgbClr val="303030"/>
                </a:solidFill>
                <a:effectLst/>
                <a:latin typeface="Arial" panose="020B0604020202020204" pitchFamily="34" charset="0"/>
                <a:ea typeface="Google Sans Text"/>
              </a:rPr>
              <a:t>Existing concurrent work like MambaVC attempted to use SSM structures for compression, but achieved </a:t>
            </a:r>
            <a:r>
              <a:rPr kumimoji="0" lang="zh-TW" altLang="zh-TW" sz="1000" b="1" i="0" u="none" strike="noStrike" cap="none" normalizeH="0" baseline="0">
                <a:ln>
                  <a:noFill/>
                </a:ln>
                <a:solidFill>
                  <a:srgbClr val="303030"/>
                </a:solidFill>
                <a:effectLst/>
                <a:latin typeface="Arial" panose="020B0604020202020204" pitchFamily="34" charset="0"/>
                <a:ea typeface="Google Sans Text"/>
              </a:rPr>
              <a:t>sub-optimal performance</a:t>
            </a:r>
            <a:r>
              <a:rPr kumimoji="0" lang="zh-TW" altLang="zh-TW" sz="1000" b="0" i="0" u="none" strike="noStrike" cap="none" normalizeH="0" baseline="0">
                <a:ln>
                  <a:noFill/>
                </a:ln>
                <a:solidFill>
                  <a:srgbClr val="303030"/>
                </a:solidFill>
                <a:effectLst/>
                <a:latin typeface="Arial" panose="020B0604020202020204" pitchFamily="34" charset="0"/>
                <a:ea typeface="Google Sans Text"/>
              </a:rPr>
              <a:t> because it merely replaced foundational blocks without tailoring the design to the specific characteristics of SSMs within the compression framework. This highlighted the need for careful adaptation, which MambaIC addresses.</a:t>
            </a:r>
            <a:r>
              <a:rPr kumimoji="0" lang="zh-TW" altLang="zh-TW" sz="600" b="0" i="0" u="none" strike="noStrike" cap="none" normalizeH="0" baseline="0">
                <a:ln>
                  <a:noFill/>
                </a:ln>
                <a:solidFill>
                  <a:schemeClr val="tx1"/>
                </a:solidFill>
                <a:effectLst/>
                <a:latin typeface="Arial" panose="020B0604020202020204" pitchFamily="34" charset="0"/>
              </a:rPr>
              <a:t> </a:t>
            </a:r>
            <a:endParaRPr kumimoji="0" lang="zh-TW" altLang="zh-TW"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108273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9">
          <a:extLst>
            <a:ext uri="{FF2B5EF4-FFF2-40B4-BE49-F238E27FC236}">
              <a16:creationId xmlns:a16="http://schemas.microsoft.com/office/drawing/2014/main" id="{C29B8735-CEA0-D269-DE39-803A75F302C6}"/>
            </a:ext>
          </a:extLst>
        </p:cNvPr>
        <p:cNvGrpSpPr/>
        <p:nvPr/>
      </p:nvGrpSpPr>
      <p:grpSpPr>
        <a:xfrm>
          <a:off x="0" y="0"/>
          <a:ext cx="0" cy="0"/>
          <a:chOff x="0" y="0"/>
          <a:chExt cx="0" cy="0"/>
        </a:xfrm>
      </p:grpSpPr>
      <p:sp>
        <p:nvSpPr>
          <p:cNvPr id="140" name="Google Shape;140;p15">
            <a:extLst>
              <a:ext uri="{FF2B5EF4-FFF2-40B4-BE49-F238E27FC236}">
                <a16:creationId xmlns:a16="http://schemas.microsoft.com/office/drawing/2014/main" id="{FDA1B75B-29DF-6CDC-13B8-42E8FC4E6D79}"/>
              </a:ext>
            </a:extLst>
          </p:cNvPr>
          <p:cNvSpPr txBox="1">
            <a:spLocks noGrp="1"/>
          </p:cNvSpPr>
          <p:nvPr>
            <p:ph type="title"/>
          </p:nvPr>
        </p:nvSpPr>
        <p:spPr>
          <a:xfrm>
            <a:off x="819150" y="310450"/>
            <a:ext cx="7505700" cy="954600"/>
          </a:xfrm>
          <a:prstGeom prst="rect">
            <a:avLst/>
          </a:prstGeom>
        </p:spPr>
        <p:txBody>
          <a:bodyPr spcFirstLastPara="1" wrap="square" lIns="91425" tIns="91425" rIns="91425" bIns="91425" anchor="t" anchorCtr="0">
            <a:normAutofit fontScale="90000"/>
          </a:bodyPr>
          <a:lstStyle/>
          <a:p>
            <a:pPr lvl="0"/>
            <a:r>
              <a:rPr lang="en-US" altLang="zh-TW" b="1" dirty="0">
                <a:latin typeface="Times New Roman" panose="02020603050405020304" pitchFamily="18" charset="0"/>
                <a:cs typeface="Times New Roman" panose="02020603050405020304" pitchFamily="18" charset="0"/>
              </a:rPr>
              <a:t>Ablation Study II: Effectiveness of SSM Block</a:t>
            </a:r>
            <a:endParaRPr dirty="0">
              <a:latin typeface="Times New Roman" panose="02020603050405020304" pitchFamily="18" charset="0"/>
              <a:cs typeface="Times New Roman" panose="02020603050405020304" pitchFamily="18" charset="0"/>
            </a:endParaRPr>
          </a:p>
        </p:txBody>
      </p:sp>
      <p:sp>
        <p:nvSpPr>
          <p:cNvPr id="141" name="Google Shape;141;p15">
            <a:extLst>
              <a:ext uri="{FF2B5EF4-FFF2-40B4-BE49-F238E27FC236}">
                <a16:creationId xmlns:a16="http://schemas.microsoft.com/office/drawing/2014/main" id="{F12DF32D-37D6-81EA-6946-FBF2A3F015FA}"/>
              </a:ext>
            </a:extLst>
          </p:cNvPr>
          <p:cNvSpPr txBox="1">
            <a:spLocks noGrp="1"/>
          </p:cNvSpPr>
          <p:nvPr>
            <p:ph type="body" idx="1"/>
          </p:nvPr>
        </p:nvSpPr>
        <p:spPr>
          <a:xfrm>
            <a:off x="373175" y="961250"/>
            <a:ext cx="8488800" cy="3871200"/>
          </a:xfrm>
          <a:prstGeom prst="rect">
            <a:avLst/>
          </a:prstGeom>
        </p:spPr>
        <p:txBody>
          <a:bodyPr spcFirstLastPara="1" wrap="square" lIns="91425" tIns="91425" rIns="91425" bIns="91425" anchor="t" anchorCtr="0">
            <a:noAutofit/>
          </a:bodyPr>
          <a:lstStyle/>
          <a:p>
            <a:pPr marL="0" indent="0" algn="just">
              <a:spcAft>
                <a:spcPts val="1200"/>
              </a:spcAft>
              <a:buNone/>
            </a:pPr>
            <a:r>
              <a:rPr lang="en-US" altLang="zh-TW" sz="2600" dirty="0">
                <a:solidFill>
                  <a:srgbClr val="303030"/>
                </a:solidFill>
                <a:latin typeface="Times New Roman" panose="02020603050405020304" pitchFamily="18" charset="0"/>
                <a:ea typeface="Arial"/>
                <a:cs typeface="Times New Roman" panose="02020603050405020304" pitchFamily="18" charset="0"/>
                <a:sym typeface="Arial"/>
              </a:rPr>
              <a:t>Replacing the foundational SSM blocks in </a:t>
            </a:r>
            <a:r>
              <a:rPr lang="en-US" altLang="zh-TW" sz="2600" dirty="0" err="1">
                <a:solidFill>
                  <a:srgbClr val="303030"/>
                </a:solidFill>
                <a:latin typeface="Times New Roman" panose="02020603050405020304" pitchFamily="18" charset="0"/>
                <a:ea typeface="Arial"/>
                <a:cs typeface="Times New Roman" panose="02020603050405020304" pitchFamily="18" charset="0"/>
                <a:sym typeface="Arial"/>
              </a:rPr>
              <a:t>MambaIC</a:t>
            </a:r>
            <a:r>
              <a:rPr lang="en-US" altLang="zh-TW" sz="2600" dirty="0">
                <a:solidFill>
                  <a:srgbClr val="303030"/>
                </a:solidFill>
                <a:latin typeface="Times New Roman" panose="02020603050405020304" pitchFamily="18" charset="0"/>
                <a:ea typeface="Arial"/>
                <a:cs typeface="Times New Roman" panose="02020603050405020304" pitchFamily="18" charset="0"/>
                <a:sym typeface="Arial"/>
              </a:rPr>
              <a:t> with CNN or Transformer structures leads to inferior rate-distortion performance. The SSM block achieves the best rate-distortion balance (-12.52% BD-Rate), showing its potential as a core block for image compression, balancing high performance with high efficiency.</a:t>
            </a:r>
            <a:endParaRPr sz="2600"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B9D495DE-81FC-5CC0-D757-3084705D64B1}"/>
              </a:ext>
            </a:extLst>
          </p:cNvPr>
          <p:cNvSpPr>
            <a:spLocks noChangeArrowheads="1"/>
          </p:cNvSpPr>
          <p:nvPr/>
        </p:nvSpPr>
        <p:spPr bwMode="auto">
          <a:xfrm>
            <a:off x="0" y="0"/>
            <a:ext cx="9144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zh-TW" sz="1000" b="0" i="0" u="none" strike="noStrike" cap="none" normalizeH="0" baseline="0">
                <a:ln>
                  <a:noFill/>
                </a:ln>
                <a:solidFill>
                  <a:srgbClr val="303030"/>
                </a:solidFill>
                <a:effectLst/>
                <a:latin typeface="Arial" panose="020B0604020202020204" pitchFamily="34" charset="0"/>
                <a:ea typeface="Google Sans Text"/>
              </a:rPr>
              <a:t>Existing concurrent work like MambaVC attempted to use SSM structures for compression, but achieved </a:t>
            </a:r>
            <a:r>
              <a:rPr kumimoji="0" lang="zh-TW" altLang="zh-TW" sz="1000" b="1" i="0" u="none" strike="noStrike" cap="none" normalizeH="0" baseline="0">
                <a:ln>
                  <a:noFill/>
                </a:ln>
                <a:solidFill>
                  <a:srgbClr val="303030"/>
                </a:solidFill>
                <a:effectLst/>
                <a:latin typeface="Arial" panose="020B0604020202020204" pitchFamily="34" charset="0"/>
                <a:ea typeface="Google Sans Text"/>
              </a:rPr>
              <a:t>sub-optimal performance</a:t>
            </a:r>
            <a:r>
              <a:rPr kumimoji="0" lang="zh-TW" altLang="zh-TW" sz="1000" b="0" i="0" u="none" strike="noStrike" cap="none" normalizeH="0" baseline="0">
                <a:ln>
                  <a:noFill/>
                </a:ln>
                <a:solidFill>
                  <a:srgbClr val="303030"/>
                </a:solidFill>
                <a:effectLst/>
                <a:latin typeface="Arial" panose="020B0604020202020204" pitchFamily="34" charset="0"/>
                <a:ea typeface="Google Sans Text"/>
              </a:rPr>
              <a:t> because it merely replaced foundational blocks without tailoring the design to the specific characteristics of SSMs within the compression framework. This highlighted the need for careful adaptation, which MambaIC addresses.</a:t>
            </a:r>
            <a:r>
              <a:rPr kumimoji="0" lang="zh-TW" altLang="zh-TW" sz="600" b="0" i="0" u="none" strike="noStrike" cap="none" normalizeH="0" baseline="0">
                <a:ln>
                  <a:noFill/>
                </a:ln>
                <a:solidFill>
                  <a:schemeClr val="tx1"/>
                </a:solidFill>
                <a:effectLst/>
                <a:latin typeface="Arial" panose="020B0604020202020204" pitchFamily="34" charset="0"/>
              </a:rPr>
              <a:t> </a:t>
            </a:r>
            <a:endParaRPr kumimoji="0" lang="zh-TW" altLang="zh-TW"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457520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9">
          <a:extLst>
            <a:ext uri="{FF2B5EF4-FFF2-40B4-BE49-F238E27FC236}">
              <a16:creationId xmlns:a16="http://schemas.microsoft.com/office/drawing/2014/main" id="{AC62B6C9-2596-EB1D-4428-AC57F063D158}"/>
            </a:ext>
          </a:extLst>
        </p:cNvPr>
        <p:cNvGrpSpPr/>
        <p:nvPr/>
      </p:nvGrpSpPr>
      <p:grpSpPr>
        <a:xfrm>
          <a:off x="0" y="0"/>
          <a:ext cx="0" cy="0"/>
          <a:chOff x="0" y="0"/>
          <a:chExt cx="0" cy="0"/>
        </a:xfrm>
      </p:grpSpPr>
      <p:sp>
        <p:nvSpPr>
          <p:cNvPr id="140" name="Google Shape;140;p15">
            <a:extLst>
              <a:ext uri="{FF2B5EF4-FFF2-40B4-BE49-F238E27FC236}">
                <a16:creationId xmlns:a16="http://schemas.microsoft.com/office/drawing/2014/main" id="{C71E5D39-455D-DF2E-22B9-62E87AC90EFD}"/>
              </a:ext>
            </a:extLst>
          </p:cNvPr>
          <p:cNvSpPr txBox="1">
            <a:spLocks noGrp="1"/>
          </p:cNvSpPr>
          <p:nvPr>
            <p:ph type="title"/>
          </p:nvPr>
        </p:nvSpPr>
        <p:spPr>
          <a:xfrm>
            <a:off x="819150" y="310450"/>
            <a:ext cx="7505700" cy="954600"/>
          </a:xfrm>
          <a:prstGeom prst="rect">
            <a:avLst/>
          </a:prstGeom>
        </p:spPr>
        <p:txBody>
          <a:bodyPr spcFirstLastPara="1" wrap="square" lIns="91425" tIns="91425" rIns="91425" bIns="91425" anchor="t" anchorCtr="0">
            <a:normAutofit/>
          </a:bodyPr>
          <a:lstStyle/>
          <a:p>
            <a:pPr lvl="0"/>
            <a:r>
              <a:rPr lang="en-US" altLang="zh-TW" b="1" dirty="0">
                <a:latin typeface="Times New Roman" panose="02020603050405020304" pitchFamily="18" charset="0"/>
                <a:cs typeface="Times New Roman" panose="02020603050405020304" pitchFamily="18" charset="0"/>
              </a:rPr>
              <a:t>Conclusion and Future Outlook</a:t>
            </a:r>
            <a:endParaRPr dirty="0">
              <a:latin typeface="Times New Roman" panose="02020603050405020304" pitchFamily="18" charset="0"/>
              <a:cs typeface="Times New Roman" panose="02020603050405020304" pitchFamily="18" charset="0"/>
            </a:endParaRPr>
          </a:p>
        </p:txBody>
      </p:sp>
      <p:sp>
        <p:nvSpPr>
          <p:cNvPr id="141" name="Google Shape;141;p15">
            <a:extLst>
              <a:ext uri="{FF2B5EF4-FFF2-40B4-BE49-F238E27FC236}">
                <a16:creationId xmlns:a16="http://schemas.microsoft.com/office/drawing/2014/main" id="{F789C12F-B370-D8F9-E5D2-93731CB6812F}"/>
              </a:ext>
            </a:extLst>
          </p:cNvPr>
          <p:cNvSpPr txBox="1">
            <a:spLocks noGrp="1"/>
          </p:cNvSpPr>
          <p:nvPr>
            <p:ph type="body" idx="1"/>
          </p:nvPr>
        </p:nvSpPr>
        <p:spPr>
          <a:xfrm>
            <a:off x="373175" y="961250"/>
            <a:ext cx="8488800" cy="3871200"/>
          </a:xfrm>
          <a:prstGeom prst="rect">
            <a:avLst/>
          </a:prstGeom>
        </p:spPr>
        <p:txBody>
          <a:bodyPr spcFirstLastPara="1" wrap="square" lIns="91425" tIns="91425" rIns="91425" bIns="91425" anchor="t" anchorCtr="0">
            <a:noAutofit/>
          </a:bodyPr>
          <a:lstStyle/>
          <a:p>
            <a:pPr marL="0" indent="0" algn="just">
              <a:spcAft>
                <a:spcPts val="1200"/>
              </a:spcAft>
              <a:buNone/>
            </a:pPr>
            <a:r>
              <a:rPr lang="en-US" altLang="zh-TW" sz="2600" dirty="0" err="1">
                <a:solidFill>
                  <a:srgbClr val="303030"/>
                </a:solidFill>
                <a:latin typeface="Times New Roman" panose="02020603050405020304" pitchFamily="18" charset="0"/>
                <a:ea typeface="Arial"/>
                <a:cs typeface="Times New Roman" panose="02020603050405020304" pitchFamily="18" charset="0"/>
                <a:sym typeface="Arial"/>
              </a:rPr>
              <a:t>MambaIC</a:t>
            </a:r>
            <a:r>
              <a:rPr lang="en-US" altLang="zh-TW" sz="2600" dirty="0">
                <a:solidFill>
                  <a:srgbClr val="303030"/>
                </a:solidFill>
                <a:latin typeface="Times New Roman" panose="02020603050405020304" pitchFamily="18" charset="0"/>
                <a:ea typeface="Arial"/>
                <a:cs typeface="Times New Roman" panose="02020603050405020304" pitchFamily="18" charset="0"/>
                <a:sym typeface="Arial"/>
              </a:rPr>
              <a:t> successfully leverages SSMs (integrated into the nonlinear transform and context model) and incorporates WLA to efficiently mitigate redundancy. The approach is highly effective and efficient, with performance improvements being especially pronounced for higher resolution images. </a:t>
            </a:r>
            <a:r>
              <a:rPr lang="en-US" altLang="zh-TW" sz="2600" dirty="0" err="1">
                <a:solidFill>
                  <a:srgbClr val="303030"/>
                </a:solidFill>
                <a:latin typeface="Times New Roman" panose="02020603050405020304" pitchFamily="18" charset="0"/>
                <a:ea typeface="Arial"/>
                <a:cs typeface="Times New Roman" panose="02020603050405020304" pitchFamily="18" charset="0"/>
                <a:sym typeface="Arial"/>
              </a:rPr>
              <a:t>MambaIC</a:t>
            </a:r>
            <a:r>
              <a:rPr lang="en-US" altLang="zh-TW" sz="2600" dirty="0">
                <a:solidFill>
                  <a:srgbClr val="303030"/>
                </a:solidFill>
                <a:latin typeface="Times New Roman" panose="02020603050405020304" pitchFamily="18" charset="0"/>
                <a:ea typeface="Arial"/>
                <a:cs typeface="Times New Roman" panose="02020603050405020304" pitchFamily="18" charset="0"/>
                <a:sym typeface="Arial"/>
              </a:rPr>
              <a:t> pioneers an effective new path for high-performance learned image compression using SSMs.</a:t>
            </a:r>
            <a:endParaRPr sz="2600" dirty="0">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BB3443F3-D4D9-4246-50AD-717DE4612712}"/>
              </a:ext>
            </a:extLst>
          </p:cNvPr>
          <p:cNvSpPr>
            <a:spLocks noChangeArrowheads="1"/>
          </p:cNvSpPr>
          <p:nvPr/>
        </p:nvSpPr>
        <p:spPr bwMode="auto">
          <a:xfrm>
            <a:off x="0" y="0"/>
            <a:ext cx="9144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zh-TW" sz="1000" b="0" i="0" u="none" strike="noStrike" cap="none" normalizeH="0" baseline="0">
                <a:ln>
                  <a:noFill/>
                </a:ln>
                <a:solidFill>
                  <a:srgbClr val="303030"/>
                </a:solidFill>
                <a:effectLst/>
                <a:latin typeface="Arial" panose="020B0604020202020204" pitchFamily="34" charset="0"/>
                <a:ea typeface="Google Sans Text"/>
              </a:rPr>
              <a:t>Existing concurrent work like MambaVC attempted to use SSM structures for compression, but achieved </a:t>
            </a:r>
            <a:r>
              <a:rPr kumimoji="0" lang="zh-TW" altLang="zh-TW" sz="1000" b="1" i="0" u="none" strike="noStrike" cap="none" normalizeH="0" baseline="0">
                <a:ln>
                  <a:noFill/>
                </a:ln>
                <a:solidFill>
                  <a:srgbClr val="303030"/>
                </a:solidFill>
                <a:effectLst/>
                <a:latin typeface="Arial" panose="020B0604020202020204" pitchFamily="34" charset="0"/>
                <a:ea typeface="Google Sans Text"/>
              </a:rPr>
              <a:t>sub-optimal performance</a:t>
            </a:r>
            <a:r>
              <a:rPr kumimoji="0" lang="zh-TW" altLang="zh-TW" sz="1000" b="0" i="0" u="none" strike="noStrike" cap="none" normalizeH="0" baseline="0">
                <a:ln>
                  <a:noFill/>
                </a:ln>
                <a:solidFill>
                  <a:srgbClr val="303030"/>
                </a:solidFill>
                <a:effectLst/>
                <a:latin typeface="Arial" panose="020B0604020202020204" pitchFamily="34" charset="0"/>
                <a:ea typeface="Google Sans Text"/>
              </a:rPr>
              <a:t> because it merely replaced foundational blocks without tailoring the design to the specific characteristics of SSMs within the compression framework. This highlighted the need for careful adaptation, which MambaIC addresses.</a:t>
            </a:r>
            <a:r>
              <a:rPr kumimoji="0" lang="zh-TW" altLang="zh-TW" sz="600" b="0" i="0" u="none" strike="noStrike" cap="none" normalizeH="0" baseline="0">
                <a:ln>
                  <a:noFill/>
                </a:ln>
                <a:solidFill>
                  <a:schemeClr val="tx1"/>
                </a:solidFill>
                <a:effectLst/>
                <a:latin typeface="Arial" panose="020B0604020202020204" pitchFamily="34" charset="0"/>
              </a:rPr>
              <a:t> </a:t>
            </a:r>
            <a:endParaRPr kumimoji="0" lang="zh-TW" altLang="zh-TW"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50812192"/>
      </p:ext>
    </p:extLst>
  </p:cSld>
  <p:clrMapOvr>
    <a:masterClrMapping/>
  </p:clrMapOvr>
</p:sld>
</file>

<file path=ppt/theme/theme1.xml><?xml version="1.0" encoding="utf-8"?>
<a:theme xmlns:a="http://schemas.openxmlformats.org/drawingml/2006/main"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TotalTime>
  <Words>1896</Words>
  <Application>Microsoft Office PowerPoint</Application>
  <PresentationFormat>如螢幕大小 (16:9)</PresentationFormat>
  <Paragraphs>52</Paragraphs>
  <Slides>18</Slides>
  <Notes>18</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18</vt:i4>
      </vt:variant>
    </vt:vector>
  </HeadingPairs>
  <TitlesOfParts>
    <vt:vector size="23" baseType="lpstr">
      <vt:lpstr>Arial</vt:lpstr>
      <vt:lpstr>Nunito</vt:lpstr>
      <vt:lpstr>Times New Roman</vt:lpstr>
      <vt:lpstr>Calibri</vt:lpstr>
      <vt:lpstr>Shift</vt:lpstr>
      <vt:lpstr>MambaIC: State Space Models for High-Performance Learned Image Compression</vt:lpstr>
      <vt:lpstr>Outline</vt:lpstr>
      <vt:lpstr>The Need for Image Compression</vt:lpstr>
      <vt:lpstr>Motivation : Addressing Computational Bottlenecks</vt:lpstr>
      <vt:lpstr>Motivation : The SSM Solution (MambaIC's Thesis)</vt:lpstr>
      <vt:lpstr>Understanding State Space Models (SSMs)</vt:lpstr>
      <vt:lpstr>Limitations of Prior SSM Attempts (MambaVC)</vt:lpstr>
      <vt:lpstr>MambaIC Overall Architecture</vt:lpstr>
      <vt:lpstr>The Visual State Space (VSS) Block</vt:lpstr>
      <vt:lpstr>Hybrid Channel-Spatial Context Modeling</vt:lpstr>
      <vt:lpstr>Window-Based Local Attention (WLA)</vt:lpstr>
      <vt:lpstr>Performance on Standard Datasets (Kodak)</vt:lpstr>
      <vt:lpstr>Superior Scaling to High Resolution</vt:lpstr>
      <vt:lpstr>Quantitative BD-Rate Comparison</vt:lpstr>
      <vt:lpstr>Inference Efficiency (Decoding Speed)</vt:lpstr>
      <vt:lpstr>Ablation Study I: Component Necessity</vt:lpstr>
      <vt:lpstr>Ablation Study II: Effectiveness of SSM Block</vt:lpstr>
      <vt:lpstr>Conclusion and Future Outlook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M11407509</cp:lastModifiedBy>
  <cp:revision>3</cp:revision>
  <dcterms:modified xsi:type="dcterms:W3CDTF">2025-12-08T15:22:06Z</dcterms:modified>
</cp:coreProperties>
</file>