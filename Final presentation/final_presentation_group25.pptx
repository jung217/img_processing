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hyMxtHyCp1Yd4heSjRAQ6Q627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3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3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3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3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3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3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3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3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3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3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25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2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25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2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8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9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29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29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9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9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2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29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29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29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30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30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1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32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32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32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32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299900" y="1355402"/>
            <a:ext cx="65442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Single-Step Latent Diffusion for Underwater Image Restoration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1891350" y="2836802"/>
            <a:ext cx="5361300" cy="1014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Presented by 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M11407509</a:t>
            </a:r>
            <a:r>
              <a:rPr lang="en-US"/>
              <a:t> </a:t>
            </a:r>
            <a:r>
              <a:rPr lang="en-US">
                <a:latin typeface="DFKai-SB"/>
                <a:ea typeface="DFKai-SB"/>
                <a:cs typeface="DFKai-SB"/>
                <a:sym typeface="DFKai-SB"/>
              </a:rPr>
              <a:t>簡志融</a:t>
            </a: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M11407517</a:t>
            </a:r>
            <a:r>
              <a:rPr lang="en-US"/>
              <a:t> </a:t>
            </a:r>
            <a:r>
              <a:rPr lang="en-US">
                <a:latin typeface="DFKai-SB"/>
                <a:ea typeface="DFKai-SB"/>
                <a:cs typeface="DFKai-SB"/>
                <a:sym typeface="DFKai-SB"/>
              </a:rPr>
              <a:t>黃志傑</a:t>
            </a:r>
            <a:r>
              <a:rPr lang="en-US"/>
              <a:t> </a:t>
            </a:r>
            <a:endParaRPr/>
          </a:p>
          <a:p>
            <a:pPr indent="-3111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M11407W07</a:t>
            </a:r>
            <a:r>
              <a:rPr lang="en-US"/>
              <a:t> </a:t>
            </a:r>
            <a:r>
              <a:rPr lang="en-US">
                <a:latin typeface="DFKai-SB"/>
                <a:ea typeface="DFKai-SB"/>
                <a:cs typeface="DFKai-SB"/>
                <a:sym typeface="DFKai-SB"/>
              </a:rPr>
              <a:t>汪上安</a:t>
            </a: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M11407W03</a:t>
            </a:r>
            <a:r>
              <a:rPr lang="en-US"/>
              <a:t> </a:t>
            </a:r>
            <a:r>
              <a:rPr lang="en-US">
                <a:latin typeface="DFKai-SB"/>
                <a:ea typeface="DFKai-SB"/>
                <a:cs typeface="DFKai-SB"/>
                <a:sym typeface="DFKai-SB"/>
              </a:rPr>
              <a:t>鄭慶德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504318" y="44232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"/>
          <p:cNvSpPr txBox="1"/>
          <p:nvPr>
            <p:ph idx="1" type="body"/>
          </p:nvPr>
        </p:nvSpPr>
        <p:spPr>
          <a:xfrm>
            <a:off x="504318" y="1157545"/>
            <a:ext cx="7505700" cy="34419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95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Noto Sans Symbols"/>
              <a:buChar char="⮚"/>
            </a:pPr>
            <a:r>
              <a:rPr b="1"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&amp; Motivation</a:t>
            </a:r>
            <a:endParaRPr/>
          </a:p>
          <a:p>
            <a:pPr indent="0" lvl="1" marL="495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None/>
            </a:pPr>
            <a:r>
              <a:rPr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Underwater degradation, limitations of prior methods </a:t>
            </a:r>
            <a:endParaRPr/>
          </a:p>
          <a:p>
            <a:pPr indent="-45720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Noto Sans Symbols"/>
              <a:buChar char="⮚"/>
            </a:pPr>
            <a:r>
              <a:rPr b="1"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SLURPP Framework </a:t>
            </a:r>
            <a:endParaRPr/>
          </a:p>
          <a:p>
            <a:pPr indent="0" lvl="1" marL="495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None/>
            </a:pPr>
            <a:r>
              <a:rPr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Physics model, architecture, single-step latent diffusion </a:t>
            </a:r>
            <a:endParaRPr/>
          </a:p>
          <a:p>
            <a:pPr indent="-45720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Noto Sans Symbols"/>
              <a:buChar char="⮚"/>
            </a:pPr>
            <a:r>
              <a:rPr b="1"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 &amp; Results</a:t>
            </a:r>
            <a:endParaRPr/>
          </a:p>
          <a:p>
            <a:pPr indent="0" lvl="1" marL="495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None/>
            </a:pPr>
            <a:r>
              <a:rPr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benchmarks, qualitative restoration, robustness </a:t>
            </a:r>
            <a:endParaRPr/>
          </a:p>
          <a:p>
            <a:pPr indent="-45720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Noto Sans Symbols"/>
              <a:buChar char="⮚"/>
            </a:pPr>
            <a:r>
              <a:rPr b="1"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/>
          </a:p>
          <a:p>
            <a:pPr indent="0" lvl="1" marL="495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None/>
            </a:pPr>
            <a:r>
              <a:rPr lang="en-US" sz="2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findings, next research directions</a:t>
            </a:r>
            <a:endParaRPr sz="2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>
            <p:ph type="title"/>
          </p:nvPr>
        </p:nvSpPr>
        <p:spPr>
          <a:xfrm>
            <a:off x="458157" y="427328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Why Underwater Image Restoration is Critical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"/>
          <p:cNvSpPr txBox="1"/>
          <p:nvPr>
            <p:ph idx="1" type="body"/>
          </p:nvPr>
        </p:nvSpPr>
        <p:spPr>
          <a:xfrm>
            <a:off x="755030" y="1029673"/>
            <a:ext cx="7633939" cy="31220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Underwater images suffer from severe degradation effects hinder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visual perception 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reduce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 accuracy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underwater environments.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Noto Sans Symbols"/>
              <a:buChar char="⮚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restoration is crucial for applications such as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marine ecology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underwater construction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archaeology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AUV navigation</a:t>
            </a: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pic>
        <p:nvPicPr>
          <p:cNvPr descr="一張含有 水, 礁, 青綠色, 鮮豔 的圖片&#10;&#10;AI 產生的內容可能不正確。"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74965" r="0" t="0"/>
          <a:stretch/>
        </p:blipFill>
        <p:spPr>
          <a:xfrm>
            <a:off x="6734968" y="3638752"/>
            <a:ext cx="2137042" cy="107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水, 礁, 青綠色, 鮮豔 的圖片&#10;&#10;AI 產生的內容可能不正確。"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74772" t="0"/>
          <a:stretch/>
        </p:blipFill>
        <p:spPr>
          <a:xfrm>
            <a:off x="264781" y="3100042"/>
            <a:ext cx="2153609" cy="107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水, 礁, 青綠色, 鮮豔 的圖片&#10;&#10;AI 產生的內容可能不正確。"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24840" r="49931" t="0"/>
          <a:stretch/>
        </p:blipFill>
        <p:spPr>
          <a:xfrm>
            <a:off x="2418390" y="3638752"/>
            <a:ext cx="2153609" cy="107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水, 礁, 青綠色, 鮮豔 的圖片&#10;&#10;AI 產生的內容可能不正確。"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49931" r="25035" t="0"/>
          <a:stretch/>
        </p:blipFill>
        <p:spPr>
          <a:xfrm>
            <a:off x="4576679" y="3100042"/>
            <a:ext cx="2137042" cy="1077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443951" y="371211"/>
            <a:ext cx="8858178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Limitations of Prior Restoration Methods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4"/>
          <p:cNvSpPr txBox="1"/>
          <p:nvPr>
            <p:ph idx="1" type="body"/>
          </p:nvPr>
        </p:nvSpPr>
        <p:spPr>
          <a:xfrm>
            <a:off x="498955" y="1047891"/>
            <a:ext cx="7627517" cy="36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Methods</a:t>
            </a:r>
            <a:r>
              <a:rPr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Struggling with generalization across diverse underwater scenes.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Enhancement Methods</a:t>
            </a:r>
            <a:r>
              <a:rPr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Potentially producing physically implausible results.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Speed Issue</a:t>
            </a:r>
            <a:r>
              <a:rPr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Prior diffusion methods require iterative denoising.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Diffusion-Based Methods</a:t>
            </a:r>
            <a:r>
              <a:rPr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Effective for simple scenes.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Noto Sans Symbols"/>
              <a:buChar char="⮚"/>
            </a:pPr>
            <a:r>
              <a:rPr b="1"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Datasets: </a:t>
            </a:r>
            <a:r>
              <a:rPr lang="en-US" sz="2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ground truth clean images.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373174" y="400130"/>
            <a:ext cx="8502694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Harnessing Pretrained Knowledge for Restoration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451281" y="1126255"/>
            <a:ext cx="8241437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SLURPP repurposes pretrained, large-scale latent diffusion models (LDMs).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Priors Used: 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clear images align well with the natural scene content distribution learned by LDMs.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effects are highly correlated with scene depth.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Noto Sans Symbols"/>
              <a:buChar char="⮚"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 The network injects distinct diffusion priors tailored for their specific tasks.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type="title"/>
          </p:nvPr>
        </p:nvSpPr>
        <p:spPr>
          <a:xfrm>
            <a:off x="373174" y="380526"/>
            <a:ext cx="8956455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SLURPP: Single-Step Latent Diffusion Framework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6"/>
          <p:cNvSpPr txBox="1"/>
          <p:nvPr>
            <p:ph idx="1" type="body"/>
          </p:nvPr>
        </p:nvSpPr>
        <p:spPr>
          <a:xfrm>
            <a:off x="373174" y="1029277"/>
            <a:ext cx="8397651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0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SLURPP overcomes limitations by combining a novel network architecture with a physically accurate data generation pipeline.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Key Advantages: 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Fast single-step inference in the compact latent space. 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Over 200× faster than previous diffusion methods. 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Fidelity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∼3dB improvement in PSNR on synthetic benchmarks. </a:t>
            </a:r>
            <a:endParaRPr/>
          </a:p>
          <a:p>
            <a:pPr indent="-342900" lvl="1" marL="8001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Noto Sans Symbols"/>
              <a:buChar char="✔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Physical Grounding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Explicitly models and accounts for light attenuation.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388925" y="432845"/>
            <a:ext cx="8214565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Problem : Dense Scene-Medium Decomposition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388925" y="910145"/>
            <a:ext cx="8366147" cy="387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53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384396" y="429686"/>
            <a:ext cx="8375208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Physics Foundation: The Image Formation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480034" y="1147618"/>
            <a:ext cx="8010247" cy="387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5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337840" y="360197"/>
            <a:ext cx="8468317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 Synthesis Pipeline Details (Physics-Grounded)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9"/>
          <p:cNvSpPr txBox="1"/>
          <p:nvPr>
            <p:ph idx="1" type="body"/>
          </p:nvPr>
        </p:nvSpPr>
        <p:spPr>
          <a:xfrm>
            <a:off x="510581" y="1132908"/>
            <a:ext cx="8122836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Component 1: Depth Estimation (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Uses Depth Pro to estimate accurate metric monocular depth.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provides reliable per-pixel depth maps from large-scale image collections.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Component 2: Attenuation Coefficient (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β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Ensures consistency with real-world aquatic environments by randomly sampling from 10 Jearlov's water types. 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sampled coefficients guide the RGB intensities of β based on real optical measurements.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373175" y="43061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SLURPP Architecture: Dual-Branch UNet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61" y="1461826"/>
            <a:ext cx="8346478" cy="2854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>
            <p:ph type="title"/>
          </p:nvPr>
        </p:nvSpPr>
        <p:spPr>
          <a:xfrm>
            <a:off x="373175" y="394572"/>
            <a:ext cx="8928955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Single-Step Fine-Tuning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1"/>
          <p:cNvSpPr txBox="1"/>
          <p:nvPr>
            <p:ph idx="1" type="body"/>
          </p:nvPr>
        </p:nvSpPr>
        <p:spPr>
          <a:xfrm>
            <a:off x="373176" y="1113680"/>
            <a:ext cx="8397649" cy="387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1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373175" y="394572"/>
            <a:ext cx="8928955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Single-Step Fine-Tuning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一張含有 文字, 螢幕擷取畫面, 平面設計, Rectangle 的圖片&#10;&#10;AI 產生的內容可能不正確。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938" y="1349172"/>
            <a:ext cx="6774124" cy="302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type="title"/>
          </p:nvPr>
        </p:nvSpPr>
        <p:spPr>
          <a:xfrm>
            <a:off x="373174" y="394574"/>
            <a:ext cx="8715823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Detail Enhancement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一張含有 螢幕擷取畫面, 文字, 樹狀 的圖片&#10;&#10;AI 產生的內容可能不正確。" id="205" name="Google Shape;2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916" y="1631725"/>
            <a:ext cx="8068168" cy="216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一張含有 文字, 拼貼畫, 螢幕擷取畫面 的圖片&#10;&#10;AI 產生的內容可能不正確。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375" y="1104040"/>
            <a:ext cx="7023771" cy="341295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388925" y="43284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10526" r="0" t="0"/>
          <a:stretch/>
        </p:blipFill>
        <p:spPr>
          <a:xfrm>
            <a:off x="178096" y="1279805"/>
            <a:ext cx="8760308" cy="270780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/>
        </p:nvSpPr>
        <p:spPr>
          <a:xfrm>
            <a:off x="388925" y="43284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>
            <p:ph type="title"/>
          </p:nvPr>
        </p:nvSpPr>
        <p:spPr>
          <a:xfrm>
            <a:off x="304423" y="195191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一張含有 霧, 魚缸 的圖片&#10;&#10;AI 產生的內容可能不正確。" id="223" name="Google Shape;2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634" y="756271"/>
            <a:ext cx="3595269" cy="2022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草, 水, 礁, 魚缸 的圖片&#10;&#10;AI 產生的內容可能不正確。" id="224" name="Google Shape;2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230" y="2847875"/>
            <a:ext cx="3606076" cy="2028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魚, 霧, 魚缸, 光線 的圖片&#10;&#10;AI 產生的內容可能不正確。" id="225" name="Google Shape;2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31" y="2847875"/>
            <a:ext cx="3595270" cy="2022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水, 游泳, 礁, 水面下的 的圖片&#10;&#10;AI 產生的內容可能不正確。" id="226" name="Google Shape;2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232" y="756272"/>
            <a:ext cx="3595269" cy="2022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/>
          <p:nvPr>
            <p:ph type="title"/>
          </p:nvPr>
        </p:nvSpPr>
        <p:spPr>
          <a:xfrm>
            <a:off x="304423" y="195191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一張含有 游泳, 水, 霧, 魚 的圖片&#10;&#10;AI 產生的內容可能不正確。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557" y="806479"/>
            <a:ext cx="3595269" cy="202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水, 草, 魚, 魚缸 的圖片&#10;&#10;AI 產生的內容可能不正確。" id="233" name="Google Shape;2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7" y="2879159"/>
            <a:ext cx="3595269" cy="2022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魚, 水, 游泳, 戶外 的圖片&#10;&#10;AI 產生的內容可能不正確。" id="234" name="Google Shape;2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32" y="806479"/>
            <a:ext cx="3595269" cy="2022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霧, 雲, 戶外 的圖片&#10;&#10;AI 產生的內容可能不正確。" id="235" name="Google Shape;2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232" y="2879159"/>
            <a:ext cx="3595269" cy="2022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一張含有 文字, 礁, 螢幕擷取畫面 的圖片&#10;&#10;AI 產生的內容可能不正確。"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02" y="934468"/>
            <a:ext cx="7032995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>
            <p:ph type="title"/>
          </p:nvPr>
        </p:nvSpPr>
        <p:spPr>
          <a:xfrm>
            <a:off x="304423" y="195191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373175" y="394573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Quantitative Benchmarks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一張含有 文字, 螢幕擷取畫面, 字型, 數字 的圖片&#10;&#10;AI 產生的內容可能不正確。" id="247" name="Google Shape;247;p19"/>
          <p:cNvPicPr preferRelativeResize="0"/>
          <p:nvPr/>
        </p:nvPicPr>
        <p:blipFill rotWithShape="1">
          <a:blip r:embed="rId3">
            <a:alphaModFix/>
          </a:blip>
          <a:srcRect b="28129" l="0" r="0" t="0"/>
          <a:stretch/>
        </p:blipFill>
        <p:spPr>
          <a:xfrm>
            <a:off x="1314950" y="1125462"/>
            <a:ext cx="6514100" cy="2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螢幕擷取畫面, 字型, 數字 的圖片&#10;&#10;AI 產生的內容可能不正確。" id="248" name="Google Shape;248;p19"/>
          <p:cNvPicPr preferRelativeResize="0"/>
          <p:nvPr/>
        </p:nvPicPr>
        <p:blipFill rotWithShape="1">
          <a:blip r:embed="rId3">
            <a:alphaModFix/>
          </a:blip>
          <a:srcRect b="0" l="0" r="0" t="90821"/>
          <a:stretch/>
        </p:blipFill>
        <p:spPr>
          <a:xfrm>
            <a:off x="1314950" y="3690436"/>
            <a:ext cx="65141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type="title"/>
          </p:nvPr>
        </p:nvSpPr>
        <p:spPr>
          <a:xfrm>
            <a:off x="373175" y="380822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Qualitative Results: Physical Consistency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82981" y="1168256"/>
            <a:ext cx="8178037" cy="280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Disentanglement: SLURPP achieves a more distinct separation between the underlying scene content and the water medium.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Accuracy: Recovers more faithful color profiles and avoid artifacts.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 Prediction: SLURPP achieves superior accuracy in predicting Transmission 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Backscattering 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compared to previous diffusion methods.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>
            <p:ph type="title"/>
          </p:nvPr>
        </p:nvSpPr>
        <p:spPr>
          <a:xfrm>
            <a:off x="377190" y="3104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658299" y="951519"/>
            <a:ext cx="7827402" cy="4191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SLURPP introduces a novel, fast, and single-step latent diffusion framework for underwater image restoration, effectively leveraging foundational visual and geometric priors to jointly predict the clear scene and water medium parameters. 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6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a consumer-grade GPU and is not yet real-time. </a:t>
            </a:r>
            <a:endParaRPr/>
          </a:p>
          <a:p>
            <a:pPr indent="-342900" lvl="5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single-image method, it does not enforce temporal consistency, which may result in flickering artifacts when applied to video sequence.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