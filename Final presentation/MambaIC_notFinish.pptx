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76" r:id="rId13"/>
    <p:sldId id="267" r:id="rId14"/>
    <p:sldId id="268" r:id="rId15"/>
    <p:sldId id="277" r:id="rId16"/>
    <p:sldId id="279" r:id="rId17"/>
    <p:sldId id="269" r:id="rId18"/>
    <p:sldId id="278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embeddedFontLst>
    <p:embeddedFont>
      <p:font typeface="Nunito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d8bcc884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d8bcc884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d8bcc884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5d8bcc884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A0DF65C-51D1-DBCF-E7B7-060E5B1B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61429E00-2EC7-A035-941C-BE7884A91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2B66A425-B5ED-8054-B132-C7E900D94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613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689B8F1-6087-EAD2-943F-D417BBEE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C8A63628-2A05-40AB-53F1-62A5D7EFD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FC7B0057-098C-4FF1-1F0B-BEE0D1B8B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468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A4C4899-889D-149D-CCC9-06090D25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548603B0-B16E-6590-6B9C-1725B41BC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24FA5755-B6D4-4026-B1AD-95A0AB660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78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3908CBD-9A95-0109-0DAA-C646FE7D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2E477D6B-2F8A-B722-FEF6-8DDEF51B2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1FD48F6C-2D9C-932E-7191-84B5D8600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03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5B8AD5A-29A3-9307-7BA8-B1FA9E56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D21980B0-C0D3-A0EA-3827-965C82D1C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CB486F13-BA98-D18B-CD59-C451FFCFC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92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3F2D34A-B7A0-A698-7EF9-5D8071BB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D18AE4B9-E3B3-E4E4-18F5-CA206D296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7A2135B5-5713-067B-F7F9-502ECBB6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89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2E2676C-1D3A-8EAD-3B1C-049E1616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C4310629-428B-3370-B5E0-28D61D63D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13EF492E-A009-D4E7-947F-D7BDC94A0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921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D4FADB4-8431-1E6E-979B-85095A0B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2D44A452-DAD0-B17B-1AD1-E6FDACF22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662F4522-2D2A-B3B7-ED40-1DDD5065B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191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5342DBC-9CB0-9782-40C9-AB70F800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C8A20017-CC08-CE80-5750-028FB4044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0087DAED-2086-1B68-77F9-6C8F27394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413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55F0B70-4FE9-2D0B-91A3-FD979723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D62FB1B9-32F4-E4B9-6B71-582AD21EF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9D30B8A5-6878-C738-B4DD-30DEB9F810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049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44934B2-6440-A1B3-8EF7-1D7F34FB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93BFC653-C483-F1D2-81A4-83DF4E805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08308166-2991-DB20-1BD9-1189EDFE9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12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B1C72CD-E381-6B2E-65DD-2F8E0A73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EB999253-740F-A422-F0F1-3C66BD5BF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13E5DC4A-F588-75A3-C576-398D1FA24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18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09A72F5-64C9-A0BE-3B1B-1DC5A505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13A0CDDE-7147-66B8-D195-54395F1D3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3A70F054-52CE-5E09-A214-F5D1EE411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7562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B53F1A-F436-4C88-CC95-F8103092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6AEC21C6-F9A8-6E26-EBE5-B0B76060F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DC525A95-DDB6-A6BF-E72B-85D0698F9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85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708CEAC-9FE1-E85C-2CD9-1A1BB9D6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8CF21218-4455-0B1E-21C1-7B4476743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8608F67F-0F96-8A37-AB51-18F4A2CD4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428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EC08E1-B3B2-7105-2560-989179A1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F70345CE-301B-77E7-D8B4-5C5AA5D00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69F21392-648C-2999-FE33-5AB3676FD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582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F6AC7C1-D2A7-1F1B-8B38-FB4F042E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8864338D-5440-728E-F308-73E0CB0A2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F0AAE6B4-E231-1272-8A19-941FA7EB5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031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3FFD3DD-1568-4E75-F49C-3F7B205B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8DB7708C-D000-E0BF-7819-4E526D568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99F34E7D-16D7-E22F-E88F-43AF8D51C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676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1DCA727-B1C6-E1C4-4A8C-4BB5B5DA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8bcc884_0_129:notes">
            <a:extLst>
              <a:ext uri="{FF2B5EF4-FFF2-40B4-BE49-F238E27FC236}">
                <a16:creationId xmlns:a16="http://schemas.microsoft.com/office/drawing/2014/main" id="{6008D56C-594C-77FA-09D7-76FC3431A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8bcc884_0_129:notes">
            <a:extLst>
              <a:ext uri="{FF2B5EF4-FFF2-40B4-BE49-F238E27FC236}">
                <a16:creationId xmlns:a16="http://schemas.microsoft.com/office/drawing/2014/main" id="{1869B71E-A4B7-9830-380D-38114B866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42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299900" y="1692325"/>
            <a:ext cx="6544200" cy="14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MambaIC: State Space Models for High-Performance Learned Image Compression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421816" y="6417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421816" y="1596300"/>
            <a:ext cx="8639682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Arial"/>
              <a:buChar char="●"/>
            </a:pPr>
            <a:r>
              <a:rPr lang="zh-TW" sz="30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Introduction and Motivation</a:t>
            </a:r>
            <a:endParaRPr sz="3000" dirty="0">
              <a:solidFill>
                <a:srgbClr val="30303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Arial"/>
              <a:buChar char="●"/>
            </a:pPr>
            <a:r>
              <a:rPr lang="zh-TW" sz="30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Background and Architecture</a:t>
            </a:r>
            <a:endParaRPr sz="3000" dirty="0">
              <a:solidFill>
                <a:srgbClr val="30303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000"/>
              <a:buFont typeface="Arial"/>
              <a:buChar char="●"/>
            </a:pPr>
            <a:r>
              <a:rPr lang="zh-TW" sz="30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Unique Components and Experimental Validation</a:t>
            </a:r>
            <a:endParaRPr sz="3000" dirty="0">
              <a:solidFill>
                <a:srgbClr val="30303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58157" y="427328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Image Compression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486898" y="1078728"/>
            <a:ext cx="8409595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High-resolution images are growing rapidly, making compression essential for storage and real-time transmission. Traditional formats (JPEG, BPG, VVC) and modern deep-learning methods (CNN, Transformer-based LIC) exist, but there is still room for improvement.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3AD868F1-12DA-C3CE-1C33-F631DEFB1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9" t="15740" r="8781"/>
          <a:stretch>
            <a:fillRect/>
          </a:stretch>
        </p:blipFill>
        <p:spPr>
          <a:xfrm>
            <a:off x="5181659" y="2942580"/>
            <a:ext cx="3714834" cy="1938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409575" y="439963"/>
            <a:ext cx="8858178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 Computational Bottlenecks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47083" y="1034140"/>
            <a:ext cx="3880538" cy="36693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TW" sz="25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top-performing learned compression models suffer from heavy computation. Transformers in particular have quadratic complexity, meaning they become very slow for high-resolution images. This limits real-world use.</a:t>
            </a:r>
          </a:p>
        </p:txBody>
      </p:sp>
      <p:pic>
        <p:nvPicPr>
          <p:cNvPr id="3" name="圖片 2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5BECBE6E-5E3C-E436-0ABA-74FEA783E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21" y="1363303"/>
            <a:ext cx="4221364" cy="2746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FA2062F-47AC-772B-C0E5-665C7C2E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88264D36-916A-7748-0C79-4C9A61234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380526"/>
            <a:ext cx="8227314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: The SSM Solution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AEE5DA0A-A1E9-EAD5-368D-D34ADFD22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891774"/>
            <a:ext cx="839765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SSMs process long sequences efficiently in linear time and are hardware-friendly.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MambaIC’s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idea: use SSMs to reduce computation while keeping strong global dependency modeling, aiming for a better efficiency–performance trade-off.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行, 圓形 的圖片&#10;&#10;AI 產生的內容可能不正確。">
            <a:extLst>
              <a:ext uri="{FF2B5EF4-FFF2-40B4-BE49-F238E27FC236}">
                <a16:creationId xmlns:a16="http://schemas.microsoft.com/office/drawing/2014/main" id="{6FAE0A65-F5AD-F941-166F-E6841C0D7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383" y="2922899"/>
            <a:ext cx="5207233" cy="20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8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C8A82FE-8E6D-312B-93E3-28095D0D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6EC8EE63-6C80-DFE7-FDB3-38B62E651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0013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State Space Models (SSMs)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AC8356BB-D74D-FF80-F47B-55DE1F486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39765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SSMs model sequences efficiently. The Mamba architecture further improves SSMs by adding input-dependent gating. Mamba-based models already show strong results in vision tasks.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A9332F7E-4F6C-E6F3-FD95-578B4010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486353"/>
            <a:ext cx="4297680" cy="234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45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A322455-F6FF-FF63-71FC-12926F0F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FEC0F6F1-853E-E89D-0FA8-4A245ED18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034" y="429686"/>
            <a:ext cx="8183932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Prior SSM Attempts (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MambaVC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D9B47D9E-C1B3-6D43-871A-B98BBB6BA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34" y="906986"/>
            <a:ext cx="8010247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Earlier work like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MambaVC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tried using SSMs for compression but only replaced blocks without adjusting the architecture. As a result, its performance was limited. This shows that careful SSM integration is necessary—what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provides.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2DB156-6CAF-182A-AC7E-459269787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181" y="2938645"/>
            <a:ext cx="5518624" cy="183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53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B9D44B9-70FF-BDF9-7642-4594043C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816160C7-5133-A8A3-D4F2-B32A12CBB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260" y="45347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MambaIC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3B5079B0-BFD8-187A-1C4F-C0997B64E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1113650"/>
            <a:ext cx="8214565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 algn="just">
              <a:buNone/>
            </a:pPr>
            <a:r>
              <a:rPr lang="en-US" altLang="zh-TW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MambaIC</a:t>
            </a:r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is the first to integrate SSMs in </a:t>
            </a:r>
            <a:r>
              <a:rPr lang="en-US" altLang="zh-TW" sz="25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both</a:t>
            </a:r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the nonlinear transform (encoder/decoder) and the </a:t>
            </a:r>
            <a:r>
              <a:rPr lang="en-US" altLang="zh-TW" sz="25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context entropy model</a:t>
            </a:r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The system includes:</a:t>
            </a:r>
          </a:p>
          <a:p>
            <a:pPr lvl="1" algn="just"/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SSM-based analysis (gₐ) and synthesis (gₛ)</a:t>
            </a:r>
          </a:p>
          <a:p>
            <a:pPr lvl="1" algn="just"/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 SSM-enhanced context model predicting </a:t>
            </a:r>
            <a:r>
              <a:rPr lang="el-GR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μ </a:t>
            </a:r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 </a:t>
            </a:r>
            <a:r>
              <a:rPr lang="el-GR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σ </a:t>
            </a:r>
            <a:r>
              <a:rPr lang="en-US" altLang="zh-TW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entropy coding</a:t>
            </a:r>
          </a:p>
        </p:txBody>
      </p:sp>
    </p:spTree>
    <p:extLst>
      <p:ext uri="{BB962C8B-B14F-4D97-AF65-F5344CB8AC3E}">
        <p14:creationId xmlns:p14="http://schemas.microsoft.com/office/powerpoint/2010/main" val="82170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6C1B503-65F4-5119-45AB-04F45196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072F5611-CEBF-1EB3-CA73-4C609081A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3061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MambaIC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tructure">
            <a:extLst>
              <a:ext uri="{FF2B5EF4-FFF2-40B4-BE49-F238E27FC236}">
                <a16:creationId xmlns:a16="http://schemas.microsoft.com/office/drawing/2014/main" id="{742C28CC-B06B-4578-EA22-39B630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" r="40230"/>
          <a:stretch>
            <a:fillRect/>
          </a:stretch>
        </p:blipFill>
        <p:spPr bwMode="auto">
          <a:xfrm>
            <a:off x="874690" y="1065170"/>
            <a:ext cx="7394620" cy="373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08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F8F36BE-97F9-E60C-12F6-EB4A3935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FB7CCC25-64BE-8F3D-AE1C-05DE0CDAC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State Space (VSS) Block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6539AF87-2861-BDCD-6EB6-F66AAD613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VSS block uses a 2D selective scan (SS2D): it scans the feature map in four directions, processes each with an SSM, and merges the results. This gives a strong global receptive field while staying efficient.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tructure">
            <a:extLst>
              <a:ext uri="{FF2B5EF4-FFF2-40B4-BE49-F238E27FC236}">
                <a16:creationId xmlns:a16="http://schemas.microsoft.com/office/drawing/2014/main" id="{41812F5F-DBC6-CBE0-C2A2-FDAC03496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29" t="-547" r="1399" b="547"/>
          <a:stretch>
            <a:fillRect/>
          </a:stretch>
        </p:blipFill>
        <p:spPr bwMode="auto">
          <a:xfrm>
            <a:off x="5658917" y="2464437"/>
            <a:ext cx="3111908" cy="236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56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8F9A01A-5B53-FE13-152B-FB40FBB2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0D581CED-EC5A-2F86-75A3-5E05FC85D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Channel-Spatial Context Modeling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E479897F-4928-277F-DAB5-1B0DA6FAC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2025" y="961250"/>
            <a:ext cx="8122836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MambaIC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combines:</a:t>
            </a:r>
          </a:p>
          <a:p>
            <a:pPr lvl="1"/>
            <a:r>
              <a:rPr lang="en-US" altLang="zh-TW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autoregressive modeling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(previous latent channels)</a:t>
            </a:r>
          </a:p>
          <a:p>
            <a:pPr lvl="1"/>
            <a:r>
              <a:rPr lang="en-US" altLang="zh-TW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contexts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(neighboring decoded positions)</a:t>
            </a:r>
          </a:p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VSS blocks help both parts, giving richer side information for entropy estimation.</a:t>
            </a:r>
          </a:p>
        </p:txBody>
      </p:sp>
    </p:spTree>
    <p:extLst>
      <p:ext uri="{BB962C8B-B14F-4D97-AF65-F5344CB8AC3E}">
        <p14:creationId xmlns:p14="http://schemas.microsoft.com/office/powerpoint/2010/main" val="407066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A64F433-B2B2-BA61-935F-D00D274E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573CBAB6-E345-C42C-BEFF-D6D53294C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Channel-Spatial Context Modeling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ontext">
            <a:extLst>
              <a:ext uri="{FF2B5EF4-FFF2-40B4-BE49-F238E27FC236}">
                <a16:creationId xmlns:a16="http://schemas.microsoft.com/office/drawing/2014/main" id="{0A47A358-19E2-8A38-C9CF-C158E8400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33"/>
          <a:stretch>
            <a:fillRect/>
          </a:stretch>
        </p:blipFill>
        <p:spPr bwMode="auto">
          <a:xfrm>
            <a:off x="556055" y="1119188"/>
            <a:ext cx="5093247" cy="301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ntext">
            <a:extLst>
              <a:ext uri="{FF2B5EF4-FFF2-40B4-BE49-F238E27FC236}">
                <a16:creationId xmlns:a16="http://schemas.microsoft.com/office/drawing/2014/main" id="{8D26456B-C7EB-9E9B-958A-CCCA9F53F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0" r="22699"/>
          <a:stretch>
            <a:fillRect/>
          </a:stretch>
        </p:blipFill>
        <p:spPr bwMode="auto">
          <a:xfrm>
            <a:off x="5649302" y="1932042"/>
            <a:ext cx="3116580" cy="290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34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3A4D06C-8993-985A-5A10-1E275173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920C0AA1-CEA4-0A0A-2BEF-8D5621D0D6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Window-Based Local Attention (WLA)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A7DF35C6-FED3-21DD-C24C-CC71EC5E7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1113681"/>
            <a:ext cx="5204519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VSS captures global information, but WLA improves local relationships. Using window partitioning, it keeps attention efficient and reduces remaining spatial redundancy.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ontext">
            <a:extLst>
              <a:ext uri="{FF2B5EF4-FFF2-40B4-BE49-F238E27FC236}">
                <a16:creationId xmlns:a16="http://schemas.microsoft.com/office/drawing/2014/main" id="{FE485F30-E38E-07B7-7F3F-533D9B215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6" r="-1" b="4624"/>
          <a:stretch>
            <a:fillRect/>
          </a:stretch>
        </p:blipFill>
        <p:spPr bwMode="auto">
          <a:xfrm>
            <a:off x="5699820" y="1266112"/>
            <a:ext cx="2994805" cy="356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49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D581E2C-2D82-7078-DAF0-89E6164F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8C196534-9417-7D41-7585-6003F87BE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Standard Datasets (Kodak)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57AB0D25-500C-6891-6C3B-4517D9963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107885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On the Kodak dataset, </a:t>
            </a: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achieves the best rate-distortion performance (PSNR &amp; MS-SSIM). It clearly outperforms both classical codecs and previous SSM-based designs like </a:t>
            </a: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MambaVC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results">
            <a:extLst>
              <a:ext uri="{FF2B5EF4-FFF2-40B4-BE49-F238E27FC236}">
                <a16:creationId xmlns:a16="http://schemas.microsoft.com/office/drawing/2014/main" id="{630F3004-1BA3-23E1-3794-2797060A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625" y="2982086"/>
            <a:ext cx="5410200" cy="185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47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4951C37-1465-7E4C-5B2F-CEEA414DE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1FEA1EE6-C946-32F5-01F0-82EC1AE44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Standard Datasets (Kodak)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results">
            <a:extLst>
              <a:ext uri="{FF2B5EF4-FFF2-40B4-BE49-F238E27FC236}">
                <a16:creationId xmlns:a16="http://schemas.microsoft.com/office/drawing/2014/main" id="{15C89C86-BB0A-0745-FD34-BB32DE424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34"/>
          <a:stretch>
            <a:fillRect/>
          </a:stretch>
        </p:blipFill>
        <p:spPr bwMode="auto">
          <a:xfrm>
            <a:off x="373175" y="1285627"/>
            <a:ext cx="4094076" cy="307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esults">
            <a:extLst>
              <a:ext uri="{FF2B5EF4-FFF2-40B4-BE49-F238E27FC236}">
                <a16:creationId xmlns:a16="http://schemas.microsoft.com/office/drawing/2014/main" id="{E0021C85-73A3-3158-A092-3685CBBE10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31" r="-169"/>
          <a:stretch>
            <a:fillRect/>
          </a:stretch>
        </p:blipFill>
        <p:spPr bwMode="auto">
          <a:xfrm>
            <a:off x="4467251" y="1285627"/>
            <a:ext cx="4208361" cy="307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274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939AA8C-0659-ED82-12C3-5848192F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6C004971-A754-3AAA-D54F-2660F7185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Standard Datasets (Kodak)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鳥類, 鸚鵡 的圖片&#10;&#10;AI 產生的內容可能不正確。">
            <a:extLst>
              <a:ext uri="{FF2B5EF4-FFF2-40B4-BE49-F238E27FC236}">
                <a16:creationId xmlns:a16="http://schemas.microsoft.com/office/drawing/2014/main" id="{0F34532E-88EA-078C-FFC6-01F96FDD6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00"/>
          <a:stretch>
            <a:fillRect/>
          </a:stretch>
        </p:blipFill>
        <p:spPr>
          <a:xfrm>
            <a:off x="3290453" y="2946201"/>
            <a:ext cx="5632568" cy="1968053"/>
          </a:xfrm>
          <a:prstGeom prst="rect">
            <a:avLst/>
          </a:prstGeom>
        </p:spPr>
      </p:pic>
      <p:pic>
        <p:nvPicPr>
          <p:cNvPr id="4" name="圖片 3" descr="一張含有 文字, 螢幕擷取畫面, 鳥類, 鸚鵡 的圖片&#10;&#10;AI 產生的內容可能不正確。">
            <a:extLst>
              <a:ext uri="{FF2B5EF4-FFF2-40B4-BE49-F238E27FC236}">
                <a16:creationId xmlns:a16="http://schemas.microsoft.com/office/drawing/2014/main" id="{2A3555DC-45CB-C30F-E756-EB7862F4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583"/>
          <a:stretch>
            <a:fillRect/>
          </a:stretch>
        </p:blipFill>
        <p:spPr>
          <a:xfrm>
            <a:off x="457200" y="1091888"/>
            <a:ext cx="4632960" cy="19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62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F53FDBC-C52D-C57A-680A-E17F123B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16FB7590-9440-DBC4-5BCC-715EB591A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Scaling to High Resolution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68BE1F00-B4D5-E578-50D4-60EC7C8A0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On high-resolution datasets (</a:t>
            </a: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Tecnick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CLIC), </a:t>
            </a: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remains stable and competitive. Its performance advantage increases as resolution becomes higher—showing SSMs handle large images very well.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25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576B5CF-AED9-690B-9530-D2235A9E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875326DC-D104-A481-B36A-E8CC08C5C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190" y="3104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Scaling to High Resolution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螢幕擷取畫面, 鮮豔 的圖片&#10;&#10;AI 產生的內容可能不正確。">
            <a:extLst>
              <a:ext uri="{FF2B5EF4-FFF2-40B4-BE49-F238E27FC236}">
                <a16:creationId xmlns:a16="http://schemas.microsoft.com/office/drawing/2014/main" id="{8A719176-88CB-6D04-1764-A5571ECA5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1021158"/>
            <a:ext cx="7280910" cy="36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55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4BCC1BF-1279-91FC-8E86-531E2703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9874E6A3-4F99-45E3-7B7E-000E1D3A6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BD-Rate Comparison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3D753685-E7B5-93C5-8003-2CB0655E4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achieves −12.52% BD-Rate over VVC on Kodak (PSNR), far better than ELIC (−3.95%) and </a:t>
            </a: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MambaVC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(−7.31%). This proves the strength of the design.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27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6CB51E7-D678-2303-C858-52827258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EE5AD902-2047-F0B2-4728-5F813EC374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Efficiency (Decoding Speed)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A4EA256C-CA3F-5661-5D8A-91124E02F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027" y="1037450"/>
            <a:ext cx="8561173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just">
              <a:lnSpc>
                <a:spcPct val="100000"/>
              </a:lnSpc>
              <a:spcAft>
                <a:spcPts val="1200"/>
              </a:spcAft>
            </a:pP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decodes faster than other high-performing methods. </a:t>
            </a:r>
          </a:p>
          <a:p>
            <a:pPr lvl="1" indent="-457200" algn="just">
              <a:lnSpc>
                <a:spcPct val="100000"/>
              </a:lnSpc>
              <a:spcAft>
                <a:spcPts val="1200"/>
              </a:spcAft>
            </a:pP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: 39.42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ms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</a:p>
          <a:p>
            <a:pPr lvl="1" indent="-457200" algn="just">
              <a:lnSpc>
                <a:spcPct val="100000"/>
              </a:lnSpc>
              <a:spcAft>
                <a:spcPts val="1200"/>
              </a:spcAft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ELIC: 45.34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ms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</a:p>
          <a:p>
            <a:pPr lvl="1" indent="-457200" algn="just">
              <a:lnSpc>
                <a:spcPct val="100000"/>
              </a:lnSpc>
              <a:spcAft>
                <a:spcPts val="1200"/>
              </a:spcAft>
            </a:pP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Transformer-hybrid models: 91.44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ms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zh-TW" sz="25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5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provides both higher performance and lower latency.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119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520FF29-3DDC-04B0-D1DC-9A6AA7A7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5B66B071-FE95-DF33-51DC-839D43DEC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 I: Component Necessity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2E43DC22-A35F-861B-07C2-AD0FEDDF3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Each component (CAM, spatial context model, WLA) is essential. Removing WLA alone significantly drops performance, showing its importance for local redundancy reduction.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27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29B8735-CEA0-D269-DE39-803A75F3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FDA1B75B-29DF-6CDC-13B8-42E8FC4E6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4" y="483950"/>
            <a:ext cx="7955485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 II: Effectiveness of SSM Block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F12DF32D-37D6-81EA-6946-FBF2A3F01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Replacing SSM with CNN or Transformer blocks hurts performance. The SSM version achieves the best BD-rate, proving SSMs are well-suited as the core architecture for image compression.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752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C62B6C9-2596-EB1D-4428-AC57F063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C71E5D39-455D-DF2E-22B9-62E87AC90E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75" y="4839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Outlook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F789C12F-B370-D8F9-E5D2-93731CB68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175" y="961250"/>
            <a:ext cx="84888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altLang="zh-TW" sz="2600" dirty="0" err="1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MambaIC</a:t>
            </a:r>
            <a:r>
              <a:rPr lang="en-US" altLang="zh-TW" sz="2600" dirty="0">
                <a:solidFill>
                  <a:srgbClr val="30303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effectively combines SSMs and WLA to reduce redundancy efficiently. It delivers strong performance—especially on high-resolution images—and shows SSMs are a promising direction for next-generation image compression.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812192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691</Words>
  <Application>Microsoft Office PowerPoint</Application>
  <PresentationFormat>如螢幕大小 (16:9)</PresentationFormat>
  <Paragraphs>50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Times New Roman</vt:lpstr>
      <vt:lpstr>Calibri</vt:lpstr>
      <vt:lpstr>Arial</vt:lpstr>
      <vt:lpstr>Nunito</vt:lpstr>
      <vt:lpstr>Shift</vt:lpstr>
      <vt:lpstr>MambaIC: State Space Models for High-Performance Learned Image Compression</vt:lpstr>
      <vt:lpstr>Outline</vt:lpstr>
      <vt:lpstr>The Need for Image Compression</vt:lpstr>
      <vt:lpstr>Motivation : Computational Bottlenecks</vt:lpstr>
      <vt:lpstr>Motivation : The SSM Solution</vt:lpstr>
      <vt:lpstr>Understanding State Space Models (SSMs)</vt:lpstr>
      <vt:lpstr>Limitations of Prior SSM Attempts (MambaVC)</vt:lpstr>
      <vt:lpstr>MambaIC Overall Architecture</vt:lpstr>
      <vt:lpstr>MambaIC Overall Architecture</vt:lpstr>
      <vt:lpstr>The Visual State Space (VSS) Block</vt:lpstr>
      <vt:lpstr>Hybrid Channel-Spatial Context Modeling</vt:lpstr>
      <vt:lpstr>Hybrid Channel-Spatial Context Modeling</vt:lpstr>
      <vt:lpstr>Window-Based Local Attention (WLA)</vt:lpstr>
      <vt:lpstr>Performance on Standard Datasets (Kodak)</vt:lpstr>
      <vt:lpstr>Performance on Standard Datasets (Kodak)</vt:lpstr>
      <vt:lpstr>Performance on Standard Datasets (Kodak)</vt:lpstr>
      <vt:lpstr>Superior Scaling to High Resolution</vt:lpstr>
      <vt:lpstr>Superior Scaling to High Resolution</vt:lpstr>
      <vt:lpstr>Quantitative BD-Rate Comparison</vt:lpstr>
      <vt:lpstr>Inference Efficiency (Decoding Speed)</vt:lpstr>
      <vt:lpstr>Ablation Study I: Component Necessity</vt:lpstr>
      <vt:lpstr>Ablation Study II: Effectiveness of SSM Block</vt:lpstr>
      <vt:lpstr>Conclusion and Future Outlook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M11407509</cp:lastModifiedBy>
  <cp:revision>27</cp:revision>
  <dcterms:modified xsi:type="dcterms:W3CDTF">2025-12-08T16:33:03Z</dcterms:modified>
</cp:coreProperties>
</file>